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4"/>
  </p:notesMasterIdLst>
  <p:handoutMasterIdLst>
    <p:handoutMasterId r:id="rId15"/>
  </p:handoutMasterIdLst>
  <p:sldIdLst>
    <p:sldId id="304" r:id="rId5"/>
    <p:sldId id="314" r:id="rId6"/>
    <p:sldId id="308" r:id="rId7"/>
    <p:sldId id="258" r:id="rId8"/>
    <p:sldId id="317" r:id="rId9"/>
    <p:sldId id="318" r:id="rId10"/>
    <p:sldId id="319" r:id="rId11"/>
    <p:sldId id="320" r:id="rId12"/>
    <p:sldId id="305" r:id="rId13"/>
  </p:sldIdLst>
  <p:sldSz cx="12192000" cy="6858000"/>
  <p:notesSz cx="6858000" cy="9144000"/>
  <p:defaultTextStyle>
    <a:defPPr rtl="0"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5" name="Autor" initials="A" lastIdx="0" clrIdx="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000" autoAdjust="0"/>
    <p:restoredTop sz="88697" autoAdjust="0"/>
  </p:normalViewPr>
  <p:slideViewPr>
    <p:cSldViewPr snapToGrid="0">
      <p:cViewPr varScale="1">
        <p:scale>
          <a:sx n="62" d="100"/>
          <a:sy n="62" d="100"/>
        </p:scale>
        <p:origin x="1056" y="60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6" d="100"/>
          <a:sy n="86" d="100"/>
        </p:scale>
        <p:origin x="3102" y="7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8/10/relationships/authors" Target="author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commentAuthors" Target="commentAuthors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notesMaster" Target="notesMasters/notesMaster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3">
  <dgm:title val=""/>
  <dgm:desc val=""/>
  <dgm:catLst>
    <dgm:cat type="colorful" pri="103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/>
      <a:schemeClr val="accent4"/>
    </dgm:fillClrLst>
    <dgm:linClrLst>
      <a:schemeClr val="accent3"/>
      <a:schemeClr val="accent4"/>
    </dgm:linClrLst>
    <dgm:effectClrLst/>
    <dgm:txLinClrLst/>
    <dgm:txFillClrLst/>
    <dgm:txEffectClrLst/>
  </dgm:styleLbl>
  <dgm:styleLbl name="ln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alpha val="50000"/>
      </a:schemeClr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3"/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37DC3B3-1880-49FA-8AB2-681DBDAE6167}" type="doc">
      <dgm:prSet loTypeId="urn:microsoft.com/office/officeart/2005/8/layout/hierarchy3" loCatId="hierarchy" qsTypeId="urn:microsoft.com/office/officeart/2005/8/quickstyle/simple4" qsCatId="simple" csTypeId="urn:microsoft.com/office/officeart/2005/8/colors/colorful3" csCatId="colorful" phldr="1"/>
      <dgm:spPr/>
      <dgm:t>
        <a:bodyPr/>
        <a:lstStyle/>
        <a:p>
          <a:endParaRPr lang="es-CO"/>
        </a:p>
      </dgm:t>
    </dgm:pt>
    <dgm:pt modelId="{AED96BC9-ED01-485F-83F3-B900CC24FC96}">
      <dgm:prSet phldrT="[Texto]"/>
      <dgm:spPr>
        <a:solidFill>
          <a:schemeClr val="accent4"/>
        </a:solidFill>
      </dgm:spPr>
      <dgm:t>
        <a:bodyPr/>
        <a:lstStyle/>
        <a:p>
          <a:r>
            <a:rPr lang="es-CO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rPr>
            <a:t>UML</a:t>
          </a:r>
        </a:p>
      </dgm:t>
    </dgm:pt>
    <dgm:pt modelId="{B795978E-22BE-40EA-97F0-F92C5BF62160}" type="parTrans" cxnId="{4CE727B1-054E-456C-B71F-C0A52F5234D9}">
      <dgm:prSet/>
      <dgm:spPr/>
      <dgm:t>
        <a:bodyPr/>
        <a:lstStyle/>
        <a:p>
          <a:endParaRPr lang="es-CO" b="1" cap="none" spc="0">
            <a:ln w="9525">
              <a:solidFill>
                <a:schemeClr val="bg1"/>
              </a:solidFill>
              <a:prstDash val="solid"/>
            </a:ln>
            <a:solidFill>
              <a:schemeClr val="tx1"/>
            </a:solidFill>
            <a:effectLst>
              <a:outerShdw blurRad="12700" dist="38100" dir="2700000" algn="tl" rotWithShape="0">
                <a:schemeClr val="bg1">
                  <a:lumMod val="50000"/>
                </a:schemeClr>
              </a:outerShdw>
            </a:effectLst>
          </a:endParaRPr>
        </a:p>
      </dgm:t>
    </dgm:pt>
    <dgm:pt modelId="{B3A761F4-A662-42FD-8A6F-DA82D6E004A5}" type="sibTrans" cxnId="{4CE727B1-054E-456C-B71F-C0A52F5234D9}">
      <dgm:prSet/>
      <dgm:spPr/>
      <dgm:t>
        <a:bodyPr/>
        <a:lstStyle/>
        <a:p>
          <a:endParaRPr lang="es-CO" b="1" cap="none" spc="0">
            <a:ln w="9525">
              <a:solidFill>
                <a:schemeClr val="bg1"/>
              </a:solidFill>
              <a:prstDash val="solid"/>
            </a:ln>
            <a:solidFill>
              <a:schemeClr val="tx1"/>
            </a:solidFill>
            <a:effectLst>
              <a:outerShdw blurRad="12700" dist="38100" dir="2700000" algn="tl" rotWithShape="0">
                <a:schemeClr val="bg1">
                  <a:lumMod val="50000"/>
                </a:schemeClr>
              </a:outerShdw>
            </a:effectLst>
          </a:endParaRPr>
        </a:p>
      </dgm:t>
    </dgm:pt>
    <dgm:pt modelId="{66D94278-3085-4C75-A5F8-96B311A6A49E}">
      <dgm:prSet phldrT="[Texto]"/>
      <dgm:spPr>
        <a:solidFill>
          <a:schemeClr val="accent6">
            <a:lumMod val="50000"/>
          </a:schemeClr>
        </a:solidFill>
      </dgm:spPr>
      <dgm:t>
        <a:bodyPr/>
        <a:lstStyle/>
        <a:p>
          <a:r>
            <a:rPr lang="es-CO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rPr>
            <a:t>RUP</a:t>
          </a:r>
        </a:p>
      </dgm:t>
    </dgm:pt>
    <dgm:pt modelId="{A8C9DE97-9D0D-40B4-9FFA-CD7D99F3DDAF}" type="parTrans" cxnId="{BC09AB97-8BFE-4101-8D06-F9699F6281AB}">
      <dgm:prSet/>
      <dgm:spPr/>
      <dgm:t>
        <a:bodyPr/>
        <a:lstStyle/>
        <a:p>
          <a:endParaRPr lang="es-CO" b="1" cap="none" spc="0">
            <a:ln w="9525">
              <a:solidFill>
                <a:schemeClr val="bg1"/>
              </a:solidFill>
              <a:prstDash val="solid"/>
            </a:ln>
            <a:solidFill>
              <a:schemeClr val="tx1"/>
            </a:solidFill>
            <a:effectLst>
              <a:outerShdw blurRad="12700" dist="38100" dir="2700000" algn="tl" rotWithShape="0">
                <a:schemeClr val="bg1">
                  <a:lumMod val="50000"/>
                </a:schemeClr>
              </a:outerShdw>
            </a:effectLst>
          </a:endParaRPr>
        </a:p>
      </dgm:t>
    </dgm:pt>
    <dgm:pt modelId="{2B12DA29-894B-4996-AA62-0F4E0859BF8F}" type="sibTrans" cxnId="{BC09AB97-8BFE-4101-8D06-F9699F6281AB}">
      <dgm:prSet/>
      <dgm:spPr/>
      <dgm:t>
        <a:bodyPr/>
        <a:lstStyle/>
        <a:p>
          <a:endParaRPr lang="es-CO" b="1" cap="none" spc="0">
            <a:ln w="9525">
              <a:solidFill>
                <a:schemeClr val="bg1"/>
              </a:solidFill>
              <a:prstDash val="solid"/>
            </a:ln>
            <a:solidFill>
              <a:schemeClr val="tx1"/>
            </a:solidFill>
            <a:effectLst>
              <a:outerShdw blurRad="12700" dist="38100" dir="2700000" algn="tl" rotWithShape="0">
                <a:schemeClr val="bg1">
                  <a:lumMod val="50000"/>
                </a:schemeClr>
              </a:outerShdw>
            </a:effectLst>
          </a:endParaRPr>
        </a:p>
      </dgm:t>
    </dgm:pt>
    <dgm:pt modelId="{396FF4AC-D465-4696-A47A-9F98911901D6}">
      <dgm:prSet phldrT="[Texto]"/>
      <dgm:spPr>
        <a:solidFill>
          <a:schemeClr val="accent3">
            <a:lumMod val="75000"/>
          </a:schemeClr>
        </a:solidFill>
      </dgm:spPr>
      <dgm:t>
        <a:bodyPr/>
        <a:lstStyle/>
        <a:p>
          <a:r>
            <a:rPr lang="es-CO" b="1" i="0" u="sng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rPr>
            <a:t>AUP</a:t>
          </a:r>
        </a:p>
      </dgm:t>
    </dgm:pt>
    <dgm:pt modelId="{CBCB3122-88CC-404D-B5D4-4939B62D675B}" type="parTrans" cxnId="{D8272498-4C2D-46AB-9125-EBE8EF9315DB}">
      <dgm:prSet/>
      <dgm:spPr/>
      <dgm:t>
        <a:bodyPr/>
        <a:lstStyle/>
        <a:p>
          <a:endParaRPr lang="es-CO" b="1" cap="none" spc="0">
            <a:ln w="9525">
              <a:solidFill>
                <a:schemeClr val="bg1"/>
              </a:solidFill>
              <a:prstDash val="solid"/>
            </a:ln>
            <a:solidFill>
              <a:schemeClr val="tx1"/>
            </a:solidFill>
            <a:effectLst>
              <a:outerShdw blurRad="12700" dist="38100" dir="2700000" algn="tl" rotWithShape="0">
                <a:schemeClr val="bg1">
                  <a:lumMod val="50000"/>
                </a:schemeClr>
              </a:outerShdw>
            </a:effectLst>
          </a:endParaRPr>
        </a:p>
      </dgm:t>
    </dgm:pt>
    <dgm:pt modelId="{6D8C1ED0-7F1E-49DC-8113-704734229AEC}" type="sibTrans" cxnId="{D8272498-4C2D-46AB-9125-EBE8EF9315DB}">
      <dgm:prSet/>
      <dgm:spPr/>
      <dgm:t>
        <a:bodyPr/>
        <a:lstStyle/>
        <a:p>
          <a:endParaRPr lang="es-CO" b="1" cap="none" spc="0">
            <a:ln w="9525">
              <a:solidFill>
                <a:schemeClr val="bg1"/>
              </a:solidFill>
              <a:prstDash val="solid"/>
            </a:ln>
            <a:solidFill>
              <a:schemeClr val="tx1"/>
            </a:solidFill>
            <a:effectLst>
              <a:outerShdw blurRad="12700" dist="38100" dir="2700000" algn="tl" rotWithShape="0">
                <a:schemeClr val="bg1">
                  <a:lumMod val="50000"/>
                </a:schemeClr>
              </a:outerShdw>
            </a:effectLst>
          </a:endParaRPr>
        </a:p>
      </dgm:t>
    </dgm:pt>
    <dgm:pt modelId="{E5675605-31A0-42A2-8A7B-CCD992D01F8E}" type="pres">
      <dgm:prSet presAssocID="{637DC3B3-1880-49FA-8AB2-681DBDAE6167}" presName="diagram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E7C0BC11-16BF-415A-A109-5D6865D64FFB}" type="pres">
      <dgm:prSet presAssocID="{AED96BC9-ED01-485F-83F3-B900CC24FC96}" presName="root" presStyleCnt="0"/>
      <dgm:spPr/>
    </dgm:pt>
    <dgm:pt modelId="{F27057F7-1244-4587-AAAC-F1858F7FBC0D}" type="pres">
      <dgm:prSet presAssocID="{AED96BC9-ED01-485F-83F3-B900CC24FC96}" presName="rootComposite" presStyleCnt="0"/>
      <dgm:spPr/>
    </dgm:pt>
    <dgm:pt modelId="{3BB60EBF-9624-40E8-890A-963382286683}" type="pres">
      <dgm:prSet presAssocID="{AED96BC9-ED01-485F-83F3-B900CC24FC96}" presName="rootText" presStyleLbl="node1" presStyleIdx="0" presStyleCnt="2"/>
      <dgm:spPr/>
    </dgm:pt>
    <dgm:pt modelId="{AECE1DF8-C5DF-4F47-8ADF-D74F7A364DBA}" type="pres">
      <dgm:prSet presAssocID="{AED96BC9-ED01-485F-83F3-B900CC24FC96}" presName="rootConnector" presStyleLbl="node1" presStyleIdx="0" presStyleCnt="2"/>
      <dgm:spPr/>
    </dgm:pt>
    <dgm:pt modelId="{50EF1D3B-D2CE-4946-841E-DFAE502EE564}" type="pres">
      <dgm:prSet presAssocID="{AED96BC9-ED01-485F-83F3-B900CC24FC96}" presName="childShape" presStyleCnt="0"/>
      <dgm:spPr/>
    </dgm:pt>
    <dgm:pt modelId="{0C70F556-C288-416A-A11A-670CA6F97AF6}" type="pres">
      <dgm:prSet presAssocID="{66D94278-3085-4C75-A5F8-96B311A6A49E}" presName="root" presStyleCnt="0"/>
      <dgm:spPr/>
    </dgm:pt>
    <dgm:pt modelId="{810F0B5B-5560-481A-8601-A0AC43574DF9}" type="pres">
      <dgm:prSet presAssocID="{66D94278-3085-4C75-A5F8-96B311A6A49E}" presName="rootComposite" presStyleCnt="0"/>
      <dgm:spPr/>
    </dgm:pt>
    <dgm:pt modelId="{6BDA924D-D172-4485-B118-2D47CD9BE113}" type="pres">
      <dgm:prSet presAssocID="{66D94278-3085-4C75-A5F8-96B311A6A49E}" presName="rootText" presStyleLbl="node1" presStyleIdx="1" presStyleCnt="2"/>
      <dgm:spPr/>
    </dgm:pt>
    <dgm:pt modelId="{3B3D7B4F-4A14-4C82-8EA5-1B0A94B1ACA7}" type="pres">
      <dgm:prSet presAssocID="{66D94278-3085-4C75-A5F8-96B311A6A49E}" presName="rootConnector" presStyleLbl="node1" presStyleIdx="1" presStyleCnt="2"/>
      <dgm:spPr/>
    </dgm:pt>
    <dgm:pt modelId="{D6DB3B4F-26E4-491D-8B3E-C7B8EF066E9A}" type="pres">
      <dgm:prSet presAssocID="{66D94278-3085-4C75-A5F8-96B311A6A49E}" presName="childShape" presStyleCnt="0"/>
      <dgm:spPr/>
    </dgm:pt>
    <dgm:pt modelId="{4721C843-7E42-4203-A930-A6BEFAA1B3C6}" type="pres">
      <dgm:prSet presAssocID="{CBCB3122-88CC-404D-B5D4-4939B62D675B}" presName="Name13" presStyleLbl="parChTrans1D2" presStyleIdx="0" presStyleCnt="1"/>
      <dgm:spPr/>
    </dgm:pt>
    <dgm:pt modelId="{0BC75E43-D52D-434A-98BE-CCEB3FF7CD42}" type="pres">
      <dgm:prSet presAssocID="{396FF4AC-D465-4696-A47A-9F98911901D6}" presName="childText" presStyleLbl="bgAcc1" presStyleIdx="0" presStyleCnt="1">
        <dgm:presLayoutVars>
          <dgm:bulletEnabled val="1"/>
        </dgm:presLayoutVars>
      </dgm:prSet>
      <dgm:spPr/>
    </dgm:pt>
  </dgm:ptLst>
  <dgm:cxnLst>
    <dgm:cxn modelId="{E697B02A-1898-4E88-9133-62001AE04622}" type="presOf" srcId="{AED96BC9-ED01-485F-83F3-B900CC24FC96}" destId="{3BB60EBF-9624-40E8-890A-963382286683}" srcOrd="0" destOrd="0" presId="urn:microsoft.com/office/officeart/2005/8/layout/hierarchy3"/>
    <dgm:cxn modelId="{47522946-C933-4018-96E9-5FE3B9BF9DD1}" type="presOf" srcId="{66D94278-3085-4C75-A5F8-96B311A6A49E}" destId="{6BDA924D-D172-4485-B118-2D47CD9BE113}" srcOrd="0" destOrd="0" presId="urn:microsoft.com/office/officeart/2005/8/layout/hierarchy3"/>
    <dgm:cxn modelId="{BBA7064C-61F6-449B-9368-E10016DED141}" type="presOf" srcId="{396FF4AC-D465-4696-A47A-9F98911901D6}" destId="{0BC75E43-D52D-434A-98BE-CCEB3FF7CD42}" srcOrd="0" destOrd="0" presId="urn:microsoft.com/office/officeart/2005/8/layout/hierarchy3"/>
    <dgm:cxn modelId="{D9A4B57C-D82A-4110-BEF7-1CF321CB4B61}" type="presOf" srcId="{CBCB3122-88CC-404D-B5D4-4939B62D675B}" destId="{4721C843-7E42-4203-A930-A6BEFAA1B3C6}" srcOrd="0" destOrd="0" presId="urn:microsoft.com/office/officeart/2005/8/layout/hierarchy3"/>
    <dgm:cxn modelId="{3C8B0883-1597-456A-BE1D-E82A87E8292D}" type="presOf" srcId="{66D94278-3085-4C75-A5F8-96B311A6A49E}" destId="{3B3D7B4F-4A14-4C82-8EA5-1B0A94B1ACA7}" srcOrd="1" destOrd="0" presId="urn:microsoft.com/office/officeart/2005/8/layout/hierarchy3"/>
    <dgm:cxn modelId="{03BA6C8C-E5D5-4594-8A42-2C7E63BB3551}" type="presOf" srcId="{AED96BC9-ED01-485F-83F3-B900CC24FC96}" destId="{AECE1DF8-C5DF-4F47-8ADF-D74F7A364DBA}" srcOrd="1" destOrd="0" presId="urn:microsoft.com/office/officeart/2005/8/layout/hierarchy3"/>
    <dgm:cxn modelId="{BC09AB97-8BFE-4101-8D06-F9699F6281AB}" srcId="{637DC3B3-1880-49FA-8AB2-681DBDAE6167}" destId="{66D94278-3085-4C75-A5F8-96B311A6A49E}" srcOrd="1" destOrd="0" parTransId="{A8C9DE97-9D0D-40B4-9FFA-CD7D99F3DDAF}" sibTransId="{2B12DA29-894B-4996-AA62-0F4E0859BF8F}"/>
    <dgm:cxn modelId="{D8272498-4C2D-46AB-9125-EBE8EF9315DB}" srcId="{66D94278-3085-4C75-A5F8-96B311A6A49E}" destId="{396FF4AC-D465-4696-A47A-9F98911901D6}" srcOrd="0" destOrd="0" parTransId="{CBCB3122-88CC-404D-B5D4-4939B62D675B}" sibTransId="{6D8C1ED0-7F1E-49DC-8113-704734229AEC}"/>
    <dgm:cxn modelId="{4CE727B1-054E-456C-B71F-C0A52F5234D9}" srcId="{637DC3B3-1880-49FA-8AB2-681DBDAE6167}" destId="{AED96BC9-ED01-485F-83F3-B900CC24FC96}" srcOrd="0" destOrd="0" parTransId="{B795978E-22BE-40EA-97F0-F92C5BF62160}" sibTransId="{B3A761F4-A662-42FD-8A6F-DA82D6E004A5}"/>
    <dgm:cxn modelId="{02A8EFFD-A340-43BF-8AD3-C6B5D0BB5C5F}" type="presOf" srcId="{637DC3B3-1880-49FA-8AB2-681DBDAE6167}" destId="{E5675605-31A0-42A2-8A7B-CCD992D01F8E}" srcOrd="0" destOrd="0" presId="urn:microsoft.com/office/officeart/2005/8/layout/hierarchy3"/>
    <dgm:cxn modelId="{4FDE196E-1BBE-4391-A836-1D69B03EFCA5}" type="presParOf" srcId="{E5675605-31A0-42A2-8A7B-CCD992D01F8E}" destId="{E7C0BC11-16BF-415A-A109-5D6865D64FFB}" srcOrd="0" destOrd="0" presId="urn:microsoft.com/office/officeart/2005/8/layout/hierarchy3"/>
    <dgm:cxn modelId="{853ECC0E-92E2-4232-8747-5B6361A7F530}" type="presParOf" srcId="{E7C0BC11-16BF-415A-A109-5D6865D64FFB}" destId="{F27057F7-1244-4587-AAAC-F1858F7FBC0D}" srcOrd="0" destOrd="0" presId="urn:microsoft.com/office/officeart/2005/8/layout/hierarchy3"/>
    <dgm:cxn modelId="{F89AE9DA-7138-4F22-B27B-671DF06E0A04}" type="presParOf" srcId="{F27057F7-1244-4587-AAAC-F1858F7FBC0D}" destId="{3BB60EBF-9624-40E8-890A-963382286683}" srcOrd="0" destOrd="0" presId="urn:microsoft.com/office/officeart/2005/8/layout/hierarchy3"/>
    <dgm:cxn modelId="{29ABCBD6-341E-41E1-A503-D6824B376813}" type="presParOf" srcId="{F27057F7-1244-4587-AAAC-F1858F7FBC0D}" destId="{AECE1DF8-C5DF-4F47-8ADF-D74F7A364DBA}" srcOrd="1" destOrd="0" presId="urn:microsoft.com/office/officeart/2005/8/layout/hierarchy3"/>
    <dgm:cxn modelId="{A91FE96F-8A0F-4D06-B2F0-9B4AF1A26E46}" type="presParOf" srcId="{E7C0BC11-16BF-415A-A109-5D6865D64FFB}" destId="{50EF1D3B-D2CE-4946-841E-DFAE502EE564}" srcOrd="1" destOrd="0" presId="urn:microsoft.com/office/officeart/2005/8/layout/hierarchy3"/>
    <dgm:cxn modelId="{9F046667-0842-4D51-A5C3-FCD1F71C6DB8}" type="presParOf" srcId="{E5675605-31A0-42A2-8A7B-CCD992D01F8E}" destId="{0C70F556-C288-416A-A11A-670CA6F97AF6}" srcOrd="1" destOrd="0" presId="urn:microsoft.com/office/officeart/2005/8/layout/hierarchy3"/>
    <dgm:cxn modelId="{A85895D9-C28D-4934-AD64-676C608995D5}" type="presParOf" srcId="{0C70F556-C288-416A-A11A-670CA6F97AF6}" destId="{810F0B5B-5560-481A-8601-A0AC43574DF9}" srcOrd="0" destOrd="0" presId="urn:microsoft.com/office/officeart/2005/8/layout/hierarchy3"/>
    <dgm:cxn modelId="{1F883F7A-D803-4468-A363-85063B2CA01E}" type="presParOf" srcId="{810F0B5B-5560-481A-8601-A0AC43574DF9}" destId="{6BDA924D-D172-4485-B118-2D47CD9BE113}" srcOrd="0" destOrd="0" presId="urn:microsoft.com/office/officeart/2005/8/layout/hierarchy3"/>
    <dgm:cxn modelId="{8ED8A2DA-9659-4A57-BC9E-E6295568C67E}" type="presParOf" srcId="{810F0B5B-5560-481A-8601-A0AC43574DF9}" destId="{3B3D7B4F-4A14-4C82-8EA5-1B0A94B1ACA7}" srcOrd="1" destOrd="0" presId="urn:microsoft.com/office/officeart/2005/8/layout/hierarchy3"/>
    <dgm:cxn modelId="{2EA2E427-38A3-4438-B2C9-591B718E9ECF}" type="presParOf" srcId="{0C70F556-C288-416A-A11A-670CA6F97AF6}" destId="{D6DB3B4F-26E4-491D-8B3E-C7B8EF066E9A}" srcOrd="1" destOrd="0" presId="urn:microsoft.com/office/officeart/2005/8/layout/hierarchy3"/>
    <dgm:cxn modelId="{B3E72CD3-562F-4319-92A0-8107031AC271}" type="presParOf" srcId="{D6DB3B4F-26E4-491D-8B3E-C7B8EF066E9A}" destId="{4721C843-7E42-4203-A930-A6BEFAA1B3C6}" srcOrd="0" destOrd="0" presId="urn:microsoft.com/office/officeart/2005/8/layout/hierarchy3"/>
    <dgm:cxn modelId="{41D4E20B-4FF3-4E26-A4C9-E4946B5A9FC4}" type="presParOf" srcId="{D6DB3B4F-26E4-491D-8B3E-C7B8EF066E9A}" destId="{0BC75E43-D52D-434A-98BE-CCEB3FF7CD42}" srcOrd="1" destOrd="0" presId="urn:microsoft.com/office/officeart/2005/8/layout/hierarchy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B60EBF-9624-40E8-890A-963382286683}">
      <dsp:nvSpPr>
        <dsp:cNvPr id="0" name=""/>
        <dsp:cNvSpPr/>
      </dsp:nvSpPr>
      <dsp:spPr>
        <a:xfrm>
          <a:off x="502" y="670516"/>
          <a:ext cx="1828353" cy="914176"/>
        </a:xfrm>
        <a:prstGeom prst="roundRect">
          <a:avLst>
            <a:gd name="adj" fmla="val 10000"/>
          </a:avLst>
        </a:prstGeom>
        <a:solidFill>
          <a:schemeClr val="accent4"/>
        </a:soli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66040" rIns="99060" bIns="66040" numCol="1" spcCol="1270" anchor="ctr" anchorCtr="0">
          <a:noAutofit/>
        </a:bodyPr>
        <a:lstStyle/>
        <a:p>
          <a:pPr marL="0" lvl="0" indent="0" algn="ctr" defTabSz="2311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CO" sz="5200" b="1" kern="1200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rPr>
            <a:t>UML</a:t>
          </a:r>
        </a:p>
      </dsp:txBody>
      <dsp:txXfrm>
        <a:off x="27277" y="697291"/>
        <a:ext cx="1774803" cy="860626"/>
      </dsp:txXfrm>
    </dsp:sp>
    <dsp:sp modelId="{6BDA924D-D172-4485-B118-2D47CD9BE113}">
      <dsp:nvSpPr>
        <dsp:cNvPr id="0" name=""/>
        <dsp:cNvSpPr/>
      </dsp:nvSpPr>
      <dsp:spPr>
        <a:xfrm>
          <a:off x="2285944" y="670516"/>
          <a:ext cx="1828353" cy="914176"/>
        </a:xfrm>
        <a:prstGeom prst="roundRect">
          <a:avLst>
            <a:gd name="adj" fmla="val 10000"/>
          </a:avLst>
        </a:prstGeom>
        <a:solidFill>
          <a:schemeClr val="accent6">
            <a:lumMod val="50000"/>
          </a:schemeClr>
        </a:soli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66040" rIns="99060" bIns="66040" numCol="1" spcCol="1270" anchor="ctr" anchorCtr="0">
          <a:noAutofit/>
        </a:bodyPr>
        <a:lstStyle/>
        <a:p>
          <a:pPr marL="0" lvl="0" indent="0" algn="ctr" defTabSz="2311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CO" sz="5200" b="1" kern="1200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rPr>
            <a:t>RUP</a:t>
          </a:r>
        </a:p>
      </dsp:txBody>
      <dsp:txXfrm>
        <a:off x="2312719" y="697291"/>
        <a:ext cx="1774803" cy="860626"/>
      </dsp:txXfrm>
    </dsp:sp>
    <dsp:sp modelId="{4721C843-7E42-4203-A930-A6BEFAA1B3C6}">
      <dsp:nvSpPr>
        <dsp:cNvPr id="0" name=""/>
        <dsp:cNvSpPr/>
      </dsp:nvSpPr>
      <dsp:spPr>
        <a:xfrm>
          <a:off x="2468779" y="1584693"/>
          <a:ext cx="182835" cy="68563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685632"/>
              </a:lnTo>
              <a:lnTo>
                <a:pt x="182835" y="685632"/>
              </a:lnTo>
            </a:path>
          </a:pathLst>
        </a:custGeom>
        <a:noFill/>
        <a:ln w="635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BC75E43-D52D-434A-98BE-CCEB3FF7CD42}">
      <dsp:nvSpPr>
        <dsp:cNvPr id="0" name=""/>
        <dsp:cNvSpPr/>
      </dsp:nvSpPr>
      <dsp:spPr>
        <a:xfrm>
          <a:off x="2651614" y="1813237"/>
          <a:ext cx="1462682" cy="914176"/>
        </a:xfrm>
        <a:prstGeom prst="roundRect">
          <a:avLst>
            <a:gd name="adj" fmla="val 10000"/>
          </a:avLst>
        </a:prstGeom>
        <a:solidFill>
          <a:schemeClr val="accent3">
            <a:lumMod val="75000"/>
          </a:schemeClr>
        </a:solidFill>
        <a:ln w="635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60960" rIns="91440" bIns="60960" numCol="1" spcCol="1270" anchor="ctr" anchorCtr="0">
          <a:noAutofit/>
        </a:bodyPr>
        <a:lstStyle/>
        <a:p>
          <a:pPr marL="0" lvl="0" indent="0" algn="ctr" defTabSz="2133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CO" sz="4800" b="1" i="0" u="sng" kern="1200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rPr>
            <a:t>AUP</a:t>
          </a:r>
        </a:p>
      </dsp:txBody>
      <dsp:txXfrm>
        <a:off x="2678389" y="1840012"/>
        <a:ext cx="1409132" cy="860626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ierarchy3">
  <dgm:title val=""/>
  <dgm:desc val=""/>
  <dgm:catLst>
    <dgm:cat type="hierarchy" pri="7000"/>
    <dgm:cat type="list" pri="23000"/>
    <dgm:cat type="relationship" pri="15000"/>
    <dgm:cat type="convert" pri="7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</dgm:ptLst>
      <dgm:cxnLst>
        <dgm:cxn modelId="4" srcId="0" destId="1" srcOrd="0" destOrd="0"/>
        <dgm:cxn modelId="5" srcId="1" destId="11" srcOrd="0" destOrd="0"/>
        <dgm:cxn modelId="6" srcId="1" destId="12" srcOrd="1" destOrd="0"/>
        <dgm:cxn modelId="7" srcId="0" destId="2" srcOrd="1" destOrd="0"/>
        <dgm:cxn modelId="8" srcId="2" destId="21" srcOrd="0" destOrd="0"/>
        <dgm:cxn modelId="9" srcId="2" destId="2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diagram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forName="rootText" op="equ" val="65"/>
      <dgm:constr type="primFontSz" for="des" forName="childText" op="equ" val="65"/>
      <dgm:constr type="w" for="des" forName="rootComposite" refType="w"/>
      <dgm:constr type="h" for="des" forName="rootComposite" refType="w" fact="0.5"/>
      <dgm:constr type="w" for="des" forName="childText" refType="w" refFor="des" refForName="rootComposite" fact="0.8"/>
      <dgm:constr type="h" for="des" forName="childText" refType="h" refFor="des" refForName="rootComposite"/>
      <dgm:constr type="sibSp" refType="w" refFor="des" refForName="rootComposite" fact="0.25"/>
      <dgm:constr type="sibSp" for="des" forName="childShape" refType="h" refFor="des" refForName="childText" fact="0.25"/>
      <dgm:constr type="sp" for="des" forName="root" refType="h" refFor="des" refForName="childText" fact="0.25"/>
    </dgm:constrLst>
    <dgm:ruleLst/>
    <dgm:forEach name="Name3" axis="ch">
      <dgm:forEach name="Name4" axis="self" ptType="node" cnt="1">
        <dgm:layoutNode name="root">
          <dgm:choose name="Name5">
            <dgm:if name="Name6" func="var" arg="dir" op="equ" val="norm">
              <dgm:alg type="hierRoot">
                <dgm:param type="hierAlign" val="tL"/>
              </dgm:alg>
            </dgm:if>
            <dgm:else name="Name7">
              <dgm:alg type="hierRoot">
                <dgm:param type="hierAlign" val="tR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>
            <dgm:constr type="alignOff" val="0.2"/>
          </dgm:constrLst>
          <dgm:ruleLst/>
          <dgm:layoutNode name="rootComposite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8">
              <dgm:if name="Name9" func="var" arg="dir" op="equ" val="norm">
                <dgm:constrLst>
                  <dgm:constr type="l" for="ch" forName="rootText"/>
                  <dgm:constr type="t" for="ch" forName="rootText"/>
                  <dgm:constr type="w" for="ch" forName="rootText" refType="w"/>
                  <dgm:constr type="h" for="ch" forName="rootText" refType="h"/>
                  <dgm:constr type="l" for="ch" forName="rootConnector"/>
                  <dgm:constr type="t" for="ch" forName="rootConnector"/>
                  <dgm:constr type="w" for="ch" forName="rootConnector" refType="w" refFor="ch" refForName="rootText" fact="0.2"/>
                  <dgm:constr type="h" for="ch" forName="rootConnector" refType="h" refFor="ch" refForName="rootText"/>
                </dgm:constrLst>
              </dgm:if>
              <dgm:else name="Name10">
                <dgm:constrLst>
                  <dgm:constr type="l" for="ch" forName="rootText"/>
                  <dgm:constr type="t" for="ch" forName="rootText"/>
                  <dgm:constr type="w" for="ch" forName="rootText" refType="w"/>
                  <dgm:constr type="h" for="ch" forName="rootText" refType="h"/>
                  <dgm:constr type="r" for="ch" forName="rootConnector" refType="w"/>
                  <dgm:constr type="t" for="ch" forName="rootConnector"/>
                  <dgm:constr type="w" for="ch" forName="rootConnector" refType="w" refFor="ch" refForName="rootText" fact="0.2"/>
                  <dgm:constr type="h" for="ch" forName="rootConnector" refType="h" refFor="ch" refForName="rootText"/>
                </dgm:constrLst>
              </dgm:else>
            </dgm:choose>
            <dgm:ruleLst/>
            <dgm:layoutNode name="rootText" styleLbl="node1"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 ptType="node" cnt="1"/>
              <dgm:constrLst>
                <dgm:constr type="tMarg" refType="primFontSz" fact="0.1"/>
                <dgm:constr type="bMarg" refType="primFontSz" fact="0.1"/>
                <dgm:constr type="lMarg" refType="primFontSz" fact="0.15"/>
                <dgm:constr type="rMarg" refType="primFontSz" fact="0.15"/>
              </dgm:constrLst>
              <dgm:ruleLst>
                <dgm:rule type="primFontSz" val="5" fact="NaN" max="NaN"/>
              </dgm:ruleLst>
            </dgm:layoutNode>
            <dgm:layoutNode name="rootConnector" moveWith="rootText">
              <dgm:alg type="sp"/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self" ptType="node" cnt="1"/>
              <dgm:constrLst/>
              <dgm:ruleLst/>
            </dgm:layoutNode>
          </dgm:layoutNode>
          <dgm:layoutNode name="childShape">
            <dgm:alg type="hierChild">
              <dgm:param type="chAlign" val="l"/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11" axis="ch">
              <dgm:forEach name="Name12" axis="self" ptType="parTrans" cnt="1">
                <dgm:layoutNode name="Name13">
                  <dgm:choose name="Name14">
                    <dgm:if name="Name15" func="var" arg="dir" op="equ" val="norm">
                      <dgm:alg type="conn">
                        <dgm:param type="dim" val="1D"/>
                        <dgm:param type="endSty" val="noArr"/>
                        <dgm:param type="connRout" val="bend"/>
                        <dgm:param type="srcNode" val="rootConnector"/>
                        <dgm:param type="begPts" val="bCtr"/>
                        <dgm:param type="endPts" val="midL"/>
                      </dgm:alg>
                    </dgm:if>
                    <dgm:else name="Name16">
                      <dgm:alg type="conn">
                        <dgm:param type="dim" val="1D"/>
                        <dgm:param type="endSty" val="noArr"/>
                        <dgm:param type="connRout" val="bend"/>
                        <dgm:param type="srcNode" val="rootConnector"/>
                        <dgm:param type="begPts" val="bCtr"/>
                        <dgm:param type="endPts" val="midR"/>
                      </dgm:alg>
                    </dgm:else>
                  </dgm:choose>
                  <dgm:shape xmlns:r="http://schemas.openxmlformats.org/officeDocument/2006/relationships" type="conn" r:blip="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7" axis="self" ptType="node">
                <dgm:layoutNode name="childText" styleLbl="bgAcc1">
                  <dgm:varLst>
                    <dgm:bulletEnabled val="1"/>
                  </dgm:varLst>
                  <dgm:alg type="tx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self desOrSelf" ptType="node node" st="1 1" cnt="1 0"/>
                  <dgm:constrLst>
                    <dgm:constr type="tMarg" refType="primFontSz" fact="0.1"/>
                    <dgm:constr type="bMarg" refType="primFontSz" fact="0.1"/>
                    <dgm:constr type="lMarg" refType="primFontSz" fact="0.15"/>
                    <dgm:constr type="rMarg" refType="primFontSz" fact="0.15"/>
                  </dgm:constrLst>
                  <dgm:ruleLst>
                    <dgm:rule type="primFontSz" val="5" fact="NaN" max="NaN"/>
                  </dgm:ruleLst>
                </dgm:layoutNode>
              </dgm:forEach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s-ES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57D7ACE9-B1AC-4C2D-93E4-1FAEE7430E41}" type="datetime1">
              <a:rPr lang="es-ES" smtClean="0"/>
              <a:t>16/02/2022</a:t>
            </a:fld>
            <a:endParaRPr lang="es-E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s-ES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s-ES" noProof="0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3B4C60F-6B31-4285-B550-BEB469311534}" type="datetime1">
              <a:rPr lang="es-ES" smtClean="0"/>
              <a:pPr/>
              <a:t>16/02/2022</a:t>
            </a:fld>
            <a:endParaRPr lang="es-ES" dirty="0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es-ES" noProof="0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s-ES" noProof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r>
              <a:rPr lang="es-ES" noProof="0" dirty="0"/>
              <a:t>Agile </a:t>
            </a:r>
            <a:r>
              <a:rPr lang="es-ES" noProof="0" dirty="0" err="1"/>
              <a:t>Unified</a:t>
            </a:r>
            <a:r>
              <a:rPr lang="es-ES" noProof="0" dirty="0"/>
              <a:t> </a:t>
            </a:r>
            <a:r>
              <a:rPr lang="es-ES" noProof="0" dirty="0" err="1"/>
              <a:t>Process</a:t>
            </a:r>
            <a:r>
              <a:rPr lang="es-ES" noProof="0" dirty="0"/>
              <a:t> (AUP)</a:t>
            </a:r>
          </a:p>
          <a:p>
            <a:pPr rtl="0"/>
            <a:r>
              <a:rPr lang="es-ES" noProof="0" dirty="0"/>
              <a:t>Alejo, Sebas &amp; Sara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s-ES" smtClean="0"/>
              <a:t>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El </a:t>
            </a:r>
            <a:r>
              <a:rPr lang="es-ES" b="1" i="0" u="none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Proceso Unificado Ágil </a:t>
            </a:r>
            <a:r>
              <a:rPr lang="es-ES" b="0" i="0" u="none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(Agile </a:t>
            </a:r>
            <a:r>
              <a:rPr lang="es-ES" b="0" i="0" u="none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Unified</a:t>
            </a:r>
            <a:r>
              <a:rPr lang="es-ES" b="0" i="0" u="none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</a:t>
            </a:r>
            <a:r>
              <a:rPr lang="es-ES" b="0" i="0" u="none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Process</a:t>
            </a:r>
            <a:r>
              <a:rPr lang="es-ES" b="0" i="0" u="none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- AUP) 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es una versión simplificada del </a:t>
            </a:r>
            <a:r>
              <a:rPr lang="es-ES" b="1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Proceso Racional Unificado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(</a:t>
            </a:r>
            <a:r>
              <a:rPr lang="es-ES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Rational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</a:t>
            </a:r>
            <a:r>
              <a:rPr lang="es-ES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Unified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</a:t>
            </a:r>
            <a:r>
              <a:rPr lang="es-ES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Process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– RUP), que junto al </a:t>
            </a:r>
            <a:r>
              <a:rPr lang="es-ES" b="1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Lenguaje Unificado de Modelado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(</a:t>
            </a:r>
            <a:r>
              <a:rPr lang="es-ES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Unified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</a:t>
            </a:r>
            <a:r>
              <a:rPr lang="es-ES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Modeling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</a:t>
            </a:r>
            <a:r>
              <a:rPr lang="es-ES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Language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– UML), constituye la metodología estándar más usada para en análisis, diseño, implementación y documentación de sistemas en </a:t>
            </a:r>
            <a:r>
              <a:rPr lang="es-ES" b="1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Programación Orientada a Objetos</a:t>
            </a:r>
            <a:r>
              <a:rPr lang="es-ES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(POO).</a:t>
            </a:r>
            <a:endParaRPr lang="es-ES" noProof="0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smtClean="0"/>
              <a:t>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4344093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s-ES" noProof="0" dirty="0"/>
              <a:t>Describe una manera simple y fácil de entender la forma de desarrollar aplicaciones de software usando técnicas ágiles y conceptos que aún se mantienen válidos en el RUP. El AUP aplica técnicas ágiles incluyendo el Desarrollo Guiado por Pruebas (Test </a:t>
            </a:r>
            <a:r>
              <a:rPr lang="es-ES" noProof="0" dirty="0" err="1"/>
              <a:t>Driven</a:t>
            </a:r>
            <a:r>
              <a:rPr lang="es-ES" noProof="0" dirty="0"/>
              <a:t> </a:t>
            </a:r>
            <a:r>
              <a:rPr lang="es-ES" noProof="0" dirty="0" err="1"/>
              <a:t>Development</a:t>
            </a:r>
            <a:r>
              <a:rPr lang="es-ES" noProof="0" dirty="0"/>
              <a:t> – TDD), el modelado ágil, gestión de cambios ágil y refactorización de base de datos para mejorar la productividad.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smtClean="0"/>
              <a:t>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5360883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r>
              <a:rPr lang="es-ES" b="0" i="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El proceso AUP establece un modelo más simple que el de RUP, por lo que reúne en una única disciplina al Modelado de Negocio, Requisitos, y Análisis y Diseño. El resto de disciplinas (Implementación, Pruebas, Despliegue, Gestión de la Configuración, Gestión de Proyectos y Entorno) coinciden con las restantes de RUP.</a:t>
            </a:r>
            <a:endParaRPr lang="es-ES" noProof="0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s-ES" smtClean="0"/>
              <a:t>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787559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s-CO" dirty="0"/>
              <a:t>Al igual que el RUP, el AUP establece 4 fases que van de manera consecutiva:</a:t>
            </a:r>
          </a:p>
          <a:p>
            <a:pPr marL="228600" indent="-228600">
              <a:buAutoNum type="arabicParenR"/>
            </a:pPr>
            <a:r>
              <a:rPr lang="es-CO" dirty="0"/>
              <a:t>Concepción: Se obtiene una comprensión común entre el cliente y el equipo de desarrollo sobre el alcance del sistema y se definen las posibles arquitecturas.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lang="es-CO" dirty="0"/>
              <a:t>Elaboración: El equipo de desarrollo profundiza en la comprensión de los requisitos del sistema y en validar la arquitectura.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lang="es-CO" dirty="0"/>
              <a:t>Construcción: El sistema es desarrollado y se realizan pruebas dentro del ambiente de desarrollo.</a:t>
            </a:r>
          </a:p>
          <a:p>
            <a:pPr marL="228600" indent="-228600">
              <a:buAutoNum type="arabicParenR"/>
            </a:pPr>
            <a:r>
              <a:rPr lang="es-CO" dirty="0"/>
              <a:t>Transición: El sistema se lleva a su entorno final (preproducción) donde es sometido a pruebas de validación y aceptación, para finalmente desplegarse.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noProof="0" smtClean="0"/>
              <a:t>5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125806304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s-CO" dirty="0"/>
              <a:t>Modelo: Entender el negocio de la organización, el problema que se aborda y determinar una solución.</a:t>
            </a:r>
          </a:p>
          <a:p>
            <a:pPr marL="171450" indent="-171450">
              <a:buFontTx/>
              <a:buChar char="-"/>
            </a:pPr>
            <a:r>
              <a:rPr lang="es-CO" dirty="0"/>
              <a:t>Aplicación: Transformar el modelo en una solución de software.</a:t>
            </a:r>
          </a:p>
          <a:p>
            <a:pPr marL="171450" indent="-171450">
              <a:buFontTx/>
              <a:buChar char="-"/>
            </a:pPr>
            <a:r>
              <a:rPr lang="es-CO" dirty="0"/>
              <a:t>Prueba: Realizar una evaluación objetiva para garantizar la calidad en el cumplimiento de los requisitos.</a:t>
            </a:r>
          </a:p>
          <a:p>
            <a:pPr marL="171450" indent="-171450">
              <a:buFontTx/>
              <a:buChar char="-"/>
            </a:pPr>
            <a:r>
              <a:rPr lang="es-CO" dirty="0"/>
              <a:t>Despliegue: Ejecutar la solución del sistema para su disposición a los usuarios finales.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noProof="0" smtClean="0"/>
              <a:t>6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190890151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s-CO" dirty="0"/>
              <a:t>Gestión de la configuración: Realizar la gestión de acceso a las herramientas del proyecto y hacer un seguimiento y control de las versiones y los cambios.</a:t>
            </a:r>
          </a:p>
          <a:p>
            <a:pPr marL="171450" indent="-171450">
              <a:buFontTx/>
              <a:buChar char="-"/>
            </a:pPr>
            <a:r>
              <a:rPr lang="es-CO" dirty="0"/>
              <a:t>Gestión de proyectos: Dirigir las actividades que se llevan a cabo dentro del proyecto (gestión de riesgos, asignación de tareas, seguimiento de procesos, </a:t>
            </a:r>
            <a:r>
              <a:rPr lang="es-CO" dirty="0" err="1"/>
              <a:t>etc</a:t>
            </a:r>
            <a:r>
              <a:rPr lang="es-CO" dirty="0"/>
              <a:t>).</a:t>
            </a:r>
          </a:p>
          <a:p>
            <a:pPr marL="171450" indent="-171450">
              <a:buFontTx/>
              <a:buChar char="-"/>
            </a:pPr>
            <a:r>
              <a:rPr lang="es-CO" dirty="0"/>
              <a:t>Entorno: Apoyar el resto de los esfuerzos para garantizar que el proceso sea el adecuado y disponer de una orientación y herramientas para el equipo.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noProof="0" smtClean="0"/>
              <a:t>7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260751256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s-CO" dirty="0"/>
              <a:t>La AUP es ágil, porque está basada en los siguientes principios:</a:t>
            </a:r>
          </a:p>
          <a:p>
            <a:pPr marL="228600" indent="-228600">
              <a:buAutoNum type="arabicParenR"/>
            </a:pPr>
            <a:r>
              <a:rPr lang="es-CO" dirty="0"/>
              <a:t>El personal sabe lo que está haciendo: La gente no va a leer letra a letra la documentación, pero esto no quiere decir que nadie requiera de orientación o formación de vez en cuando. La AUP proporciona enlaces a los detalles, pero no obliga a que te documentes si no estás interesado.</a:t>
            </a:r>
          </a:p>
          <a:p>
            <a:pPr marL="228600" indent="-228600">
              <a:buAutoNum type="arabicParenR"/>
            </a:pPr>
            <a:r>
              <a:rPr lang="es-CO" dirty="0"/>
              <a:t>Simplicidad: Todo se hace de manera clara, concisa y resumida.</a:t>
            </a:r>
          </a:p>
          <a:p>
            <a:pPr marL="228600" indent="-228600">
              <a:buAutoNum type="arabicParenR"/>
            </a:pPr>
            <a:r>
              <a:rPr lang="es-CO" dirty="0"/>
              <a:t>Agilidad: Como parte de los valores y principios de la Alianza Ágil.</a:t>
            </a:r>
          </a:p>
          <a:p>
            <a:pPr marL="228600" indent="-228600">
              <a:buAutoNum type="arabicParenR"/>
            </a:pPr>
            <a:r>
              <a:rPr lang="es-CO" dirty="0"/>
              <a:t>Centrarse en actividades de alto valor: La atención se dirige a las actividades que son esenciales en el desarrollo. No todas las actividades que suceden forman parte del proyecto.</a:t>
            </a:r>
          </a:p>
          <a:p>
            <a:pPr marL="228600" indent="-228600">
              <a:buAutoNum type="arabicParenR"/>
            </a:pPr>
            <a:r>
              <a:rPr lang="es-CO" dirty="0"/>
              <a:t>Herramienta de la independencia: Se puede usar cualquier herramienta con el AUP, pero lo aconsejable es usar las más adecuadas para el trabajo, probablemente herramientas simples o de código abierto.</a:t>
            </a:r>
          </a:p>
          <a:p>
            <a:pPr marL="228600" indent="-228600">
              <a:buAutoNum type="arabicParenR"/>
            </a:pPr>
            <a:r>
              <a:rPr lang="es-CO" dirty="0"/>
              <a:t>Adaptación: No se necesita comprar una herramienta especial o tomar cursos para adaptarse a la AUP.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noProof="0" smtClean="0"/>
              <a:t>8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8264928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noProof="0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s-ES" smtClean="0"/>
              <a:t>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1989710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ángulo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es-ES" noProof="0"/>
              <a:t>6.53</a:t>
            </a:r>
          </a:p>
          <a:p>
            <a:pPr algn="ctr" rtl="0"/>
            <a:endParaRPr lang="es-ES" noProof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es-ES" noProof="0"/>
              <a:t>Hacer clic para editar</a:t>
            </a:r>
          </a:p>
        </p:txBody>
      </p:sp>
      <p:grpSp>
        <p:nvGrpSpPr>
          <p:cNvPr id="10" name="Marcador de posición de imagen 16" descr="ilustración abstracta a color de edificio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bre nosot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grpSp>
        <p:nvGrpSpPr>
          <p:cNvPr id="971" name="Marcador de posición de imagen 986" descr="ilustración abstracta a color de edificio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Marcador de posición de imagen 57" descr="ilustración abstracta a color de edificio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9" name="Marcador de texto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0" name="Marcador de texto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1" name="Marcador de texto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2" name="Marcador de texto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3" name="Marcador de texto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4" name="Marcador de texto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5" name="Marcador de texto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8" name="Marcador de texto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9" name="Marcador de texto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Marcador de posición de imagen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1/7/20XX</a:t>
            </a:r>
          </a:p>
        </p:txBody>
      </p:sp>
      <p:sp>
        <p:nvSpPr>
          <p:cNvPr id="10" name="Marcador de texto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1" name="Marcador de texto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2" name="Marcador de texto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3" name="Marcador de texto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9" name="Marcador de texto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20" name="Marcador de texto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21" name="Marcador de texto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22" name="Marcador de texto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EDITAR EL TÍTULO</a:t>
            </a:r>
          </a:p>
        </p:txBody>
      </p:sp>
      <p:sp>
        <p:nvSpPr>
          <p:cNvPr id="15" name="Marcador de pie de página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16" name="Marcador de número de diapositiva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nformación general del product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Marcador de posición de imagen 1029" descr="ilustración abstracta a color de edificio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s-ES" noProof="0"/>
              <a:t>1/7/20XX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s-ES" noProof="0" smtClean="0"/>
              <a:pPr rtl="0"/>
              <a:t>‹Nº›</a:t>
            </a:fld>
            <a:endParaRPr lang="es-ES" noProof="0"/>
          </a:p>
        </p:txBody>
      </p:sp>
      <p:sp>
        <p:nvSpPr>
          <p:cNvPr id="10" name="Marcador de texto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21" name="Marcador de texto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17" name="Marcador de texto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18" name="Marcador de texto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19" name="Marcador de texto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22" name="Marcador de texto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23" name="Marcador de texto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24" name="Marcador de texto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Ventajas del produc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cxnSp>
        <p:nvCxnSpPr>
          <p:cNvPr id="27" name="Conector recto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13" name="Marcador de contenido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s-ES" noProof="0"/>
              <a:t>icono</a:t>
            </a:r>
          </a:p>
        </p:txBody>
      </p:sp>
      <p:sp>
        <p:nvSpPr>
          <p:cNvPr id="19" name="Marcador de contenido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s-ES" noProof="0"/>
              <a:t>icono</a:t>
            </a:r>
          </a:p>
        </p:txBody>
      </p:sp>
      <p:sp>
        <p:nvSpPr>
          <p:cNvPr id="22" name="Marcador de contenido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s-ES" noProof="0"/>
              <a:t>icono</a:t>
            </a:r>
          </a:p>
        </p:txBody>
      </p:sp>
      <p:sp>
        <p:nvSpPr>
          <p:cNvPr id="23" name="Marcador de texto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34" name="Marcador de texto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35" name="Marcador de texto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grpSp>
        <p:nvGrpSpPr>
          <p:cNvPr id="7" name="Marcador de posición de imagen 795" descr="ilustración abstracta a color de edificio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o de negoc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ángulo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cxnSp>
        <p:nvCxnSpPr>
          <p:cNvPr id="8" name="Conector recto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13" name="Marcador de contenido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s-ES" noProof="0"/>
              <a:t>icono</a:t>
            </a:r>
          </a:p>
        </p:txBody>
      </p:sp>
      <p:sp>
        <p:nvSpPr>
          <p:cNvPr id="17" name="Marcador de texto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19" name="Marcador de contenido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s-ES" noProof="0"/>
              <a:t>icono</a:t>
            </a:r>
          </a:p>
        </p:txBody>
      </p:sp>
      <p:sp>
        <p:nvSpPr>
          <p:cNvPr id="20" name="Marcador de texto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22" name="Marcador de contenido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s-ES" noProof="0"/>
              <a:t>icono</a:t>
            </a:r>
          </a:p>
        </p:txBody>
      </p:sp>
      <p:sp>
        <p:nvSpPr>
          <p:cNvPr id="23" name="Marcador de texto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15" name="Marcador de texto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VIÑETA 2</a:t>
            </a:r>
          </a:p>
        </p:txBody>
      </p:sp>
      <p:sp>
        <p:nvSpPr>
          <p:cNvPr id="16" name="Marcador de texto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VIÑETA 3</a:t>
            </a:r>
          </a:p>
        </p:txBody>
      </p:sp>
      <p:sp>
        <p:nvSpPr>
          <p:cNvPr id="24" name="Marcador de texto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VIÑETA 4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ector recto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ector recto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nformación general del merc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ángulo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cxnSp>
        <p:nvCxnSpPr>
          <p:cNvPr id="11" name="Conector recto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s-ES" noProof="0" smtClean="0"/>
              <a:pPr rtl="0"/>
              <a:t>‹Nº›</a:t>
            </a:fld>
            <a:endParaRPr lang="es-ES" noProof="0"/>
          </a:p>
        </p:txBody>
      </p:sp>
      <p:sp>
        <p:nvSpPr>
          <p:cNvPr id="16" name="Marcador de texto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s-ES" noProof="0"/>
              <a:t>1</a:t>
            </a:r>
          </a:p>
        </p:txBody>
      </p:sp>
      <p:sp>
        <p:nvSpPr>
          <p:cNvPr id="17" name="Marcador de texto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s-ES" noProof="0"/>
              <a:t>2</a:t>
            </a:r>
          </a:p>
        </p:txBody>
      </p:sp>
      <p:sp>
        <p:nvSpPr>
          <p:cNvPr id="18" name="Marcador de texto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s-ES" noProof="0"/>
              <a:t>3</a:t>
            </a:r>
          </a:p>
        </p:txBody>
      </p:sp>
      <p:sp>
        <p:nvSpPr>
          <p:cNvPr id="20" name="Marcador de texto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21" name="Marcador de texto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24" name="Marcador de fecha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ativa de merc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s-ES" noProof="0" smtClean="0"/>
              <a:pPr rtl="0"/>
              <a:t>‹Nº›</a:t>
            </a:fld>
            <a:endParaRPr lang="es-ES" noProof="0"/>
          </a:p>
        </p:txBody>
      </p:sp>
      <p:sp>
        <p:nvSpPr>
          <p:cNvPr id="16" name="Marcador de texto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s-ES" noProof="0"/>
              <a:t>1</a:t>
            </a:r>
          </a:p>
        </p:txBody>
      </p:sp>
      <p:sp>
        <p:nvSpPr>
          <p:cNvPr id="17" name="Marcador de texto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s-ES" noProof="0"/>
              <a:t>2</a:t>
            </a:r>
          </a:p>
        </p:txBody>
      </p:sp>
      <p:sp>
        <p:nvSpPr>
          <p:cNvPr id="18" name="Marcador de texto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s-ES" noProof="0"/>
              <a:t>3</a:t>
            </a:r>
          </a:p>
        </p:txBody>
      </p:sp>
      <p:sp>
        <p:nvSpPr>
          <p:cNvPr id="20" name="Marcador de texto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21" name="Marcador de texto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s-ES" noProof="0"/>
              <a:t>ENCABEZADO DE SECCIÓN</a:t>
            </a:r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Descripción de la sección</a:t>
            </a:r>
          </a:p>
        </p:txBody>
      </p:sp>
      <p:sp>
        <p:nvSpPr>
          <p:cNvPr id="22" name="Marcador de texto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s-ES" noProof="0"/>
              <a:t>ENCABEZADO DE SECCIÓN</a:t>
            </a:r>
          </a:p>
        </p:txBody>
      </p:sp>
      <p:sp>
        <p:nvSpPr>
          <p:cNvPr id="23" name="Marcador de texto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s-ES" noProof="0"/>
              <a:t>ENCABEZADO DE SECCIÓN</a:t>
            </a:r>
          </a:p>
        </p:txBody>
      </p:sp>
      <p:sp>
        <p:nvSpPr>
          <p:cNvPr id="19" name="Marcador de fecha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ati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ítulo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1/7/20XX</a:t>
            </a:r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adran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s-ES" noProof="0" smtClean="0"/>
              <a:pPr rtl="0"/>
              <a:t>‹Nº›</a:t>
            </a:fld>
            <a:endParaRPr lang="es-ES" noProof="0"/>
          </a:p>
        </p:txBody>
      </p:sp>
      <p:sp>
        <p:nvSpPr>
          <p:cNvPr id="10" name="Marcador de texto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TÍTULO DEL CUADRANTE</a:t>
            </a:r>
          </a:p>
        </p:txBody>
      </p:sp>
      <p:sp>
        <p:nvSpPr>
          <p:cNvPr id="11" name="Marcador de texto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TÍTULO DEL CUADRANTE</a:t>
            </a:r>
          </a:p>
        </p:txBody>
      </p:sp>
      <p:sp>
        <p:nvSpPr>
          <p:cNvPr id="12" name="Marcador de texto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TÍTULO DEL CUADRANTE</a:t>
            </a:r>
          </a:p>
        </p:txBody>
      </p:sp>
      <p:sp>
        <p:nvSpPr>
          <p:cNvPr id="13" name="Marcador de texto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TÍTULO DEL CUADRANTE</a:t>
            </a:r>
          </a:p>
        </p:txBody>
      </p:sp>
      <p:cxnSp>
        <p:nvCxnSpPr>
          <p:cNvPr id="5" name="Conector recto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ector recto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Marcador de fecha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strategia de crecimiento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21" name="Marcador de texto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32" name="Marcador de texto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34" name="Marcador de texto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10" name="Marcador de texto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20" name="Marcador de texto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31" name="Marcador de texto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sp>
        <p:nvSpPr>
          <p:cNvPr id="33" name="Marcador de texto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  <p:grpSp>
        <p:nvGrpSpPr>
          <p:cNvPr id="956" name="Marcador de posición de imagen 1925" descr="ilustración abstracta a color de edificio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  <p:sp>
        <p:nvSpPr>
          <p:cNvPr id="959" name="Marcador de pie de página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s-ES" noProof="0"/>
              <a:t>1/7/20XX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s-ES" noProof="0" smtClean="0"/>
              <a:pPr rtl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ati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1/7/20XX</a:t>
            </a:r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10" name="Marcador de texto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s-ES" noProof="0"/>
              <a:t>Haga clic para escribir texto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Escala de tiemp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s-ES" noProof="0" smtClean="0"/>
              <a:pPr rtl="0"/>
              <a:t>‹Nº›</a:t>
            </a:fld>
            <a:endParaRPr lang="es-ES" noProof="0"/>
          </a:p>
        </p:txBody>
      </p:sp>
      <p:sp>
        <p:nvSpPr>
          <p:cNvPr id="39" name="Marcador de texto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Año</a:t>
            </a:r>
          </a:p>
        </p:txBody>
      </p:sp>
      <p:sp>
        <p:nvSpPr>
          <p:cNvPr id="40" name="Marcador de texto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1" name="Marcador de texto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2" name="Marcador de texto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3" name="Marcador de texto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4" name="Marcador de texto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Año</a:t>
            </a:r>
          </a:p>
        </p:txBody>
      </p:sp>
      <p:sp>
        <p:nvSpPr>
          <p:cNvPr id="45" name="Marcador de texto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6" name="Marcador de texto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7" name="Marcador de texto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8" name="Marcador de texto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49" name="Marcador de texto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0" name="Marcador de texto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1" name="Marcador de texto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2" name="Marcador de texto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3" name="Marcador de texto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4" name="Marcador de texto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5" name="Marcador de texto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6" name="Marcador de texto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7" name="Marcador de texto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8" name="Marcador de texto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59" name="Marcador de texto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60" name="Marcador de texto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61" name="Marcador de texto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62" name="Marcador de texto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63" name="Marcador de texto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sp>
        <p:nvSpPr>
          <p:cNvPr id="64" name="Marcador de texto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s-ES" noProof="0"/>
              <a:t>MM</a:t>
            </a:r>
          </a:p>
        </p:txBody>
      </p:sp>
      <p:cxnSp>
        <p:nvCxnSpPr>
          <p:cNvPr id="65" name="Conector recto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Marcador de texto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s-ES" noProof="0"/>
              <a:t>Título del elemento</a:t>
            </a:r>
          </a:p>
        </p:txBody>
      </p:sp>
      <p:sp>
        <p:nvSpPr>
          <p:cNvPr id="67" name="Marcador de texto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es-ES" noProof="0"/>
              <a:t>Mes, año</a:t>
            </a:r>
          </a:p>
        </p:txBody>
      </p:sp>
      <p:sp>
        <p:nvSpPr>
          <p:cNvPr id="68" name="Marcador de fecha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z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Equipo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1/7/20XX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9" name="Marcador de texto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11" name="Marcador de posición de imagen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13" name="Marcador de texto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14" name="Marcador de texto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15" name="Marcador de posición de imagen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17" name="Marcador de texto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18" name="Marcador de texto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19" name="Marcador de posición de imagen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21" name="Marcador de texto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22" name="Marcador de texto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23" name="Marcador de posición de imagen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quipo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ángulo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41" name="Marcador de posición de imagen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43" name="Marcador de posición de imagen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44" name="Rectángulo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45" name="Marcador de posición de imagen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47" name="Marcador de posición de imagen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1/7/20XX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9" name="Marcador de texto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13" name="Marcador de texto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14" name="Marcador de texto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17" name="Marcador de texto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18" name="Marcador de texto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21" name="Marcador de texto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22" name="Marcador de texto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25" name="Marcador de texto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26" name="Marcador de texto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29" name="Marcador de texto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30" name="Marcador de texto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33" name="Marcador de texto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34" name="Marcador de texto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37" name="Marcador de texto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Nombre</a:t>
            </a:r>
          </a:p>
        </p:txBody>
      </p:sp>
      <p:sp>
        <p:nvSpPr>
          <p:cNvPr id="38" name="Marcador de texto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s-ES" noProof="0"/>
              <a:t>Título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55" name="Marcador de posición de imagen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56" name="Rectángulo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57" name="Marcador de posición de imagen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58" name="Rectángulo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59" name="Marcador de posición de imagen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61" name="Marcador de posición de imagen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s-ES" noProof="0"/>
              <a:t>Haga clic en el icono para agregar una imagen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ci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7" name="Marcador de contenido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8" name="Marcador de contenido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9" name="Marcador de contenido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0" name="Marcador de contenido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s-ES" noProof="0"/>
              <a:t>HAGA CLIC PARA EDITAR SUBTÍTULO</a:t>
            </a:r>
          </a:p>
        </p:txBody>
      </p:sp>
      <p:sp>
        <p:nvSpPr>
          <p:cNvPr id="12" name="Marcador de texto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3" name="Marcador de texto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s-ES" noProof="0"/>
              <a:t>HAGA CLIC PARA EDITAR SUBTÍTULO</a:t>
            </a:r>
          </a:p>
        </p:txBody>
      </p:sp>
      <p:sp>
        <p:nvSpPr>
          <p:cNvPr id="14" name="Marcador de texto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5" name="Marcador de texto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s-ES" noProof="0"/>
              <a:t>HAGA CLIC PARA EDITAR SUBTÍTULO</a:t>
            </a:r>
          </a:p>
        </p:txBody>
      </p:sp>
      <p:sp>
        <p:nvSpPr>
          <p:cNvPr id="16" name="Marcador de texto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7" name="Marcador de texto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s-ES" noProof="0"/>
              <a:t>HAGA CLIC PARA EDITAR SUBTÍTULO</a:t>
            </a:r>
          </a:p>
        </p:txBody>
      </p:sp>
      <p:sp>
        <p:nvSpPr>
          <p:cNvPr id="18" name="Marcador de texto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19" name="Marcador de texto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20" name="Marcador de texto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21" name="Marcador de texto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sp>
        <p:nvSpPr>
          <p:cNvPr id="22" name="Marcador de texto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Resumen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Marcador de posición de imagen 20" descr="ilustración abstracta a color de edificio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es-ES" noProof="0"/>
              <a:t>HAGA CLIC PARA EDITAR EL TÍTULO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  <p:sp>
        <p:nvSpPr>
          <p:cNvPr id="675" name="Marcador de texto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Gracias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s-ES" noProof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es-ES" noProof="0"/>
              <a:t>HAGA CLIC PARA MODIFICAR EL ESTILO DEL TÍTULO DEL PATRÓN</a:t>
            </a:r>
          </a:p>
        </p:txBody>
      </p:sp>
      <p:sp>
        <p:nvSpPr>
          <p:cNvPr id="14" name="Marcador de texto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es-ES" noProof="0"/>
              <a:t>Haga clic para editar el texto</a:t>
            </a:r>
          </a:p>
        </p:txBody>
      </p:sp>
      <p:grpSp>
        <p:nvGrpSpPr>
          <p:cNvPr id="10" name="Marcador de posición de imagen 44" descr="ilustración abstracta a color de edificio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s-ES" noProof="0"/>
            </a:p>
          </p:txBody>
        </p:sp>
      </p:grp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s-ES" noProof="0"/>
              <a:t>1/07/20XX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s-ES" noProof="0" smtClean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es-ES" noProof="0"/>
              <a:t>HAGA CLIC PARA EDITAR EL ESTILO DEL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es-ES" noProof="0"/>
              <a:t>Haga clic para modificar los estilos de texto del patrón</a:t>
            </a:r>
          </a:p>
          <a:p>
            <a:pPr lvl="1" rtl="0"/>
            <a:r>
              <a:rPr lang="es-ES" noProof="0"/>
              <a:t>Segundo nivel</a:t>
            </a:r>
          </a:p>
          <a:p>
            <a:pPr lvl="2" rtl="0"/>
            <a:r>
              <a:rPr lang="es-ES" noProof="0"/>
              <a:t>Tercer nivel</a:t>
            </a:r>
          </a:p>
          <a:p>
            <a:pPr lvl="3" rtl="0"/>
            <a:r>
              <a:rPr lang="es-ES" noProof="0"/>
              <a:t>Cuarto nivel</a:t>
            </a:r>
          </a:p>
          <a:p>
            <a:pPr lvl="4" rtl="0"/>
            <a:r>
              <a:rPr lang="es-ES" noProof="0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1/07/20XX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es-ES" noProof="0"/>
              <a:t>Título de la presentación de lanzamiento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es-ES" noProof="0" smtClean="0"/>
              <a:pPr rtl="0"/>
              <a:t>‹Nº›</a:t>
            </a:fld>
            <a:endParaRPr lang="es-ES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jpeg"/><Relationship Id="rId5" Type="http://schemas.openxmlformats.org/officeDocument/2006/relationships/image" Target="../media/image3.jpeg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ítulo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>
            <a:normAutofit/>
          </a:bodyPr>
          <a:lstStyle/>
          <a:p>
            <a:pPr rtl="0"/>
            <a:r>
              <a:rPr lang="en-US" dirty="0"/>
              <a:t>Agile Unified Process</a:t>
            </a:r>
          </a:p>
        </p:txBody>
      </p:sp>
      <p:sp>
        <p:nvSpPr>
          <p:cNvPr id="20" name="Subtítulo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es-ES" dirty="0"/>
              <a:t>ASS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289304"/>
            <a:ext cx="4114800" cy="1325563"/>
          </a:xfrm>
        </p:spPr>
        <p:txBody>
          <a:bodyPr rtlCol="0">
            <a:normAutofit fontScale="90000"/>
          </a:bodyPr>
          <a:lstStyle/>
          <a:p>
            <a:pPr rtl="0"/>
            <a:r>
              <a:rPr lang="es-ES" dirty="0"/>
              <a:t>Proceso Unificado Ágil</a:t>
            </a:r>
          </a:p>
        </p:txBody>
      </p:sp>
      <p:graphicFrame>
        <p:nvGraphicFramePr>
          <p:cNvPr id="4" name="Diagrama 3">
            <a:extLst>
              <a:ext uri="{FF2B5EF4-FFF2-40B4-BE49-F238E27FC236}">
                <a16:creationId xmlns:a16="http://schemas.microsoft.com/office/drawing/2014/main" id="{0941F124-7B22-4AEA-9ED5-7520B8B935E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5990553"/>
              </p:ext>
            </p:extLst>
          </p:nvPr>
        </p:nvGraphicFramePr>
        <p:xfrm>
          <a:off x="838200" y="2757948"/>
          <a:ext cx="4114800" cy="339793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es-ES" dirty="0"/>
              <a:t>Proceso Unificado Ágil</a:t>
            </a:r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615C66C5-CF46-4BB3-82CB-5E5DFB9B54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/>
          <a:p>
            <a:pPr algn="ctr" rtl="0"/>
            <a:r>
              <a:rPr lang="es-ES" dirty="0"/>
              <a:t>TEST DRIVEN DEVELOPMENT</a:t>
            </a:r>
          </a:p>
        </p:txBody>
      </p:sp>
      <p:sp>
        <p:nvSpPr>
          <p:cNvPr id="17" name="Marcador de texto 16">
            <a:extLst>
              <a:ext uri="{FF2B5EF4-FFF2-40B4-BE49-F238E27FC236}">
                <a16:creationId xmlns:a16="http://schemas.microsoft.com/office/drawing/2014/main" id="{42B0A734-B5BB-42C2-946F-EC7ABE90A2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38200" y="4302073"/>
            <a:ext cx="3657600" cy="365760"/>
          </a:xfrm>
        </p:spPr>
        <p:txBody>
          <a:bodyPr rtlCol="0">
            <a:noAutofit/>
          </a:bodyPr>
          <a:lstStyle/>
          <a:p>
            <a:pPr algn="ctr" rtl="0"/>
            <a:r>
              <a:rPr lang="es-ES" dirty="0"/>
              <a:t>GESTIÓN DE CAMBIOS ÁGIL</a:t>
            </a:r>
          </a:p>
        </p:txBody>
      </p:sp>
      <p:sp>
        <p:nvSpPr>
          <p:cNvPr id="19" name="Marcador de texto 18">
            <a:extLst>
              <a:ext uri="{FF2B5EF4-FFF2-40B4-BE49-F238E27FC236}">
                <a16:creationId xmlns:a16="http://schemas.microsoft.com/office/drawing/2014/main" id="{4B8BE8D6-18EB-4262-B841-22EEAC0B54F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/>
          <a:p>
            <a:pPr algn="ctr" rtl="0"/>
            <a:r>
              <a:rPr lang="es-ES" dirty="0"/>
              <a:t>MODELADO ÁGIL</a:t>
            </a:r>
          </a:p>
        </p:txBody>
      </p:sp>
      <p:sp>
        <p:nvSpPr>
          <p:cNvPr id="21" name="Marcador de texto 20">
            <a:extLst>
              <a:ext uri="{FF2B5EF4-FFF2-40B4-BE49-F238E27FC236}">
                <a16:creationId xmlns:a16="http://schemas.microsoft.com/office/drawing/2014/main" id="{09DC85FC-A5F4-4451-8D72-37B64A3F5EA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36972" y="4298061"/>
            <a:ext cx="3657600" cy="365760"/>
          </a:xfrm>
        </p:spPr>
        <p:txBody>
          <a:bodyPr rtlCol="0">
            <a:noAutofit/>
          </a:bodyPr>
          <a:lstStyle/>
          <a:p>
            <a:pPr algn="ctr" rtl="0"/>
            <a:r>
              <a:rPr lang="es-ES" dirty="0"/>
              <a:t>REFACTORIZACIÓN</a:t>
            </a:r>
          </a:p>
        </p:txBody>
      </p:sp>
      <p:pic>
        <p:nvPicPr>
          <p:cNvPr id="1026" name="Picture 2" descr="Software Crafters">
            <a:extLst>
              <a:ext uri="{FF2B5EF4-FFF2-40B4-BE49-F238E27FC236}">
                <a16:creationId xmlns:a16="http://schemas.microsoft.com/office/drawing/2014/main" id="{FE369386-F30D-4F4D-A075-314F92EF9D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09289" y="2195024"/>
            <a:ext cx="2715422" cy="16292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13810202-BB7F-4E26-8A71-9DBBF4CC0C5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8514" y="2195024"/>
            <a:ext cx="2254515" cy="1629253"/>
          </a:xfrm>
          <a:prstGeom prst="rect">
            <a:avLst/>
          </a:prstGeom>
        </p:spPr>
      </p:pic>
      <p:pic>
        <p:nvPicPr>
          <p:cNvPr id="1030" name="Picture 6">
            <a:extLst>
              <a:ext uri="{FF2B5EF4-FFF2-40B4-BE49-F238E27FC236}">
                <a16:creationId xmlns:a16="http://schemas.microsoft.com/office/drawing/2014/main" id="{93A9C512-243F-4342-B6D9-50B53E4133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4799810"/>
            <a:ext cx="3657600" cy="1188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Qué es la refactorización? Cómo mejorar los códigos fuente - IONOS">
            <a:extLst>
              <a:ext uri="{FF2B5EF4-FFF2-40B4-BE49-F238E27FC236}">
                <a16:creationId xmlns:a16="http://schemas.microsoft.com/office/drawing/2014/main" id="{49B83EEB-0324-4B7A-B44C-02571CA41E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2953" y="4799810"/>
            <a:ext cx="3292628" cy="17286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29DE7F2-E890-4744-88DD-A75F5E300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4672584"/>
            <a:ext cx="10515600" cy="1299411"/>
          </a:xfrm>
        </p:spPr>
        <p:txBody>
          <a:bodyPr rtlCol="0"/>
          <a:lstStyle/>
          <a:p>
            <a:pPr rtl="0"/>
            <a:r>
              <a:rPr lang="es-ES" dirty="0"/>
              <a:t>Ciclo de vida</a:t>
            </a: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4DD1BA00-FBB4-4BC6-ABD7-3CB6434791A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2" t="5547" r="5420" b="3370"/>
          <a:stretch/>
        </p:blipFill>
        <p:spPr bwMode="auto">
          <a:xfrm>
            <a:off x="2756352" y="201478"/>
            <a:ext cx="6666596" cy="4471106"/>
          </a:xfrm>
          <a:custGeom>
            <a:avLst/>
            <a:gdLst>
              <a:gd name="connsiteX0" fmla="*/ 0 w 6666596"/>
              <a:gd name="connsiteY0" fmla="*/ 0 h 4471106"/>
              <a:gd name="connsiteX1" fmla="*/ 422218 w 6666596"/>
              <a:gd name="connsiteY1" fmla="*/ 0 h 4471106"/>
              <a:gd name="connsiteX2" fmla="*/ 911101 w 6666596"/>
              <a:gd name="connsiteY2" fmla="*/ 0 h 4471106"/>
              <a:gd name="connsiteX3" fmla="*/ 1399985 w 6666596"/>
              <a:gd name="connsiteY3" fmla="*/ 0 h 4471106"/>
              <a:gd name="connsiteX4" fmla="*/ 1822203 w 6666596"/>
              <a:gd name="connsiteY4" fmla="*/ 0 h 4471106"/>
              <a:gd name="connsiteX5" fmla="*/ 2177755 w 6666596"/>
              <a:gd name="connsiteY5" fmla="*/ 0 h 4471106"/>
              <a:gd name="connsiteX6" fmla="*/ 2733304 w 6666596"/>
              <a:gd name="connsiteY6" fmla="*/ 0 h 4471106"/>
              <a:gd name="connsiteX7" fmla="*/ 3288854 w 6666596"/>
              <a:gd name="connsiteY7" fmla="*/ 0 h 4471106"/>
              <a:gd name="connsiteX8" fmla="*/ 3777738 w 6666596"/>
              <a:gd name="connsiteY8" fmla="*/ 0 h 4471106"/>
              <a:gd name="connsiteX9" fmla="*/ 4133290 w 6666596"/>
              <a:gd name="connsiteY9" fmla="*/ 0 h 4471106"/>
              <a:gd name="connsiteX10" fmla="*/ 4622173 w 6666596"/>
              <a:gd name="connsiteY10" fmla="*/ 0 h 4471106"/>
              <a:gd name="connsiteX11" fmla="*/ 5311055 w 6666596"/>
              <a:gd name="connsiteY11" fmla="*/ 0 h 4471106"/>
              <a:gd name="connsiteX12" fmla="*/ 5866604 w 6666596"/>
              <a:gd name="connsiteY12" fmla="*/ 0 h 4471106"/>
              <a:gd name="connsiteX13" fmla="*/ 6666596 w 6666596"/>
              <a:gd name="connsiteY13" fmla="*/ 0 h 4471106"/>
              <a:gd name="connsiteX14" fmla="*/ 6666596 w 6666596"/>
              <a:gd name="connsiteY14" fmla="*/ 603599 h 4471106"/>
              <a:gd name="connsiteX15" fmla="*/ 6666596 w 6666596"/>
              <a:gd name="connsiteY15" fmla="*/ 1162488 h 4471106"/>
              <a:gd name="connsiteX16" fmla="*/ 6666596 w 6666596"/>
              <a:gd name="connsiteY16" fmla="*/ 1587243 h 4471106"/>
              <a:gd name="connsiteX17" fmla="*/ 6666596 w 6666596"/>
              <a:gd name="connsiteY17" fmla="*/ 2190842 h 4471106"/>
              <a:gd name="connsiteX18" fmla="*/ 6666596 w 6666596"/>
              <a:gd name="connsiteY18" fmla="*/ 2660308 h 4471106"/>
              <a:gd name="connsiteX19" fmla="*/ 6666596 w 6666596"/>
              <a:gd name="connsiteY19" fmla="*/ 3129774 h 4471106"/>
              <a:gd name="connsiteX20" fmla="*/ 6666596 w 6666596"/>
              <a:gd name="connsiteY20" fmla="*/ 3599240 h 4471106"/>
              <a:gd name="connsiteX21" fmla="*/ 6666596 w 6666596"/>
              <a:gd name="connsiteY21" fmla="*/ 4471106 h 4471106"/>
              <a:gd name="connsiteX22" fmla="*/ 6244378 w 6666596"/>
              <a:gd name="connsiteY22" fmla="*/ 4471106 h 4471106"/>
              <a:gd name="connsiteX23" fmla="*/ 5888826 w 6666596"/>
              <a:gd name="connsiteY23" fmla="*/ 4471106 h 4471106"/>
              <a:gd name="connsiteX24" fmla="*/ 5533275 w 6666596"/>
              <a:gd name="connsiteY24" fmla="*/ 4471106 h 4471106"/>
              <a:gd name="connsiteX25" fmla="*/ 4977725 w 6666596"/>
              <a:gd name="connsiteY25" fmla="*/ 4471106 h 4471106"/>
              <a:gd name="connsiteX26" fmla="*/ 4355509 w 6666596"/>
              <a:gd name="connsiteY26" fmla="*/ 4471106 h 4471106"/>
              <a:gd name="connsiteX27" fmla="*/ 3799960 w 6666596"/>
              <a:gd name="connsiteY27" fmla="*/ 4471106 h 4471106"/>
              <a:gd name="connsiteX28" fmla="*/ 3244410 w 6666596"/>
              <a:gd name="connsiteY28" fmla="*/ 4471106 h 4471106"/>
              <a:gd name="connsiteX29" fmla="*/ 2888858 w 6666596"/>
              <a:gd name="connsiteY29" fmla="*/ 4471106 h 4471106"/>
              <a:gd name="connsiteX30" fmla="*/ 2333309 w 6666596"/>
              <a:gd name="connsiteY30" fmla="*/ 4471106 h 4471106"/>
              <a:gd name="connsiteX31" fmla="*/ 1644427 w 6666596"/>
              <a:gd name="connsiteY31" fmla="*/ 4471106 h 4471106"/>
              <a:gd name="connsiteX32" fmla="*/ 955545 w 6666596"/>
              <a:gd name="connsiteY32" fmla="*/ 4471106 h 4471106"/>
              <a:gd name="connsiteX33" fmla="*/ 0 w 6666596"/>
              <a:gd name="connsiteY33" fmla="*/ 4471106 h 4471106"/>
              <a:gd name="connsiteX34" fmla="*/ 0 w 6666596"/>
              <a:gd name="connsiteY34" fmla="*/ 3867507 h 4471106"/>
              <a:gd name="connsiteX35" fmla="*/ 0 w 6666596"/>
              <a:gd name="connsiteY35" fmla="*/ 3442752 h 4471106"/>
              <a:gd name="connsiteX36" fmla="*/ 0 w 6666596"/>
              <a:gd name="connsiteY36" fmla="*/ 2839152 h 4471106"/>
              <a:gd name="connsiteX37" fmla="*/ 0 w 6666596"/>
              <a:gd name="connsiteY37" fmla="*/ 2190842 h 4471106"/>
              <a:gd name="connsiteX38" fmla="*/ 0 w 6666596"/>
              <a:gd name="connsiteY38" fmla="*/ 1631954 h 4471106"/>
              <a:gd name="connsiteX39" fmla="*/ 0 w 6666596"/>
              <a:gd name="connsiteY39" fmla="*/ 1028354 h 4471106"/>
              <a:gd name="connsiteX40" fmla="*/ 0 w 6666596"/>
              <a:gd name="connsiteY40" fmla="*/ 514177 h 4471106"/>
              <a:gd name="connsiteX41" fmla="*/ 0 w 6666596"/>
              <a:gd name="connsiteY41" fmla="*/ 0 h 4471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666596" h="4471106" extrusionOk="0">
                <a:moveTo>
                  <a:pt x="0" y="0"/>
                </a:moveTo>
                <a:cubicBezTo>
                  <a:pt x="139495" y="-35681"/>
                  <a:pt x="261504" y="12700"/>
                  <a:pt x="422218" y="0"/>
                </a:cubicBezTo>
                <a:cubicBezTo>
                  <a:pt x="582932" y="-12700"/>
                  <a:pt x="677543" y="39938"/>
                  <a:pt x="911101" y="0"/>
                </a:cubicBezTo>
                <a:cubicBezTo>
                  <a:pt x="1144659" y="-39938"/>
                  <a:pt x="1163830" y="43607"/>
                  <a:pt x="1399985" y="0"/>
                </a:cubicBezTo>
                <a:cubicBezTo>
                  <a:pt x="1636140" y="-43607"/>
                  <a:pt x="1702593" y="2841"/>
                  <a:pt x="1822203" y="0"/>
                </a:cubicBezTo>
                <a:cubicBezTo>
                  <a:pt x="1941813" y="-2841"/>
                  <a:pt x="2029733" y="17105"/>
                  <a:pt x="2177755" y="0"/>
                </a:cubicBezTo>
                <a:cubicBezTo>
                  <a:pt x="2325777" y="-17105"/>
                  <a:pt x="2477240" y="30598"/>
                  <a:pt x="2733304" y="0"/>
                </a:cubicBezTo>
                <a:cubicBezTo>
                  <a:pt x="2989368" y="-30598"/>
                  <a:pt x="3142104" y="40388"/>
                  <a:pt x="3288854" y="0"/>
                </a:cubicBezTo>
                <a:cubicBezTo>
                  <a:pt x="3435604" y="-40388"/>
                  <a:pt x="3551920" y="43250"/>
                  <a:pt x="3777738" y="0"/>
                </a:cubicBezTo>
                <a:cubicBezTo>
                  <a:pt x="4003556" y="-43250"/>
                  <a:pt x="4046407" y="35111"/>
                  <a:pt x="4133290" y="0"/>
                </a:cubicBezTo>
                <a:cubicBezTo>
                  <a:pt x="4220173" y="-35111"/>
                  <a:pt x="4496065" y="20654"/>
                  <a:pt x="4622173" y="0"/>
                </a:cubicBezTo>
                <a:cubicBezTo>
                  <a:pt x="4748281" y="-20654"/>
                  <a:pt x="5075916" y="75608"/>
                  <a:pt x="5311055" y="0"/>
                </a:cubicBezTo>
                <a:cubicBezTo>
                  <a:pt x="5546194" y="-75608"/>
                  <a:pt x="5611082" y="61213"/>
                  <a:pt x="5866604" y="0"/>
                </a:cubicBezTo>
                <a:cubicBezTo>
                  <a:pt x="6122126" y="-61213"/>
                  <a:pt x="6403947" y="51126"/>
                  <a:pt x="6666596" y="0"/>
                </a:cubicBezTo>
                <a:cubicBezTo>
                  <a:pt x="6674084" y="265994"/>
                  <a:pt x="6652297" y="476005"/>
                  <a:pt x="6666596" y="603599"/>
                </a:cubicBezTo>
                <a:cubicBezTo>
                  <a:pt x="6680895" y="731193"/>
                  <a:pt x="6635102" y="918645"/>
                  <a:pt x="6666596" y="1162488"/>
                </a:cubicBezTo>
                <a:cubicBezTo>
                  <a:pt x="6698090" y="1406331"/>
                  <a:pt x="6615899" y="1390455"/>
                  <a:pt x="6666596" y="1587243"/>
                </a:cubicBezTo>
                <a:cubicBezTo>
                  <a:pt x="6717293" y="1784032"/>
                  <a:pt x="6620698" y="1927138"/>
                  <a:pt x="6666596" y="2190842"/>
                </a:cubicBezTo>
                <a:cubicBezTo>
                  <a:pt x="6712494" y="2454546"/>
                  <a:pt x="6619068" y="2473292"/>
                  <a:pt x="6666596" y="2660308"/>
                </a:cubicBezTo>
                <a:cubicBezTo>
                  <a:pt x="6714124" y="2847324"/>
                  <a:pt x="6617544" y="2902452"/>
                  <a:pt x="6666596" y="3129774"/>
                </a:cubicBezTo>
                <a:cubicBezTo>
                  <a:pt x="6715648" y="3357096"/>
                  <a:pt x="6648733" y="3385939"/>
                  <a:pt x="6666596" y="3599240"/>
                </a:cubicBezTo>
                <a:cubicBezTo>
                  <a:pt x="6684459" y="3812541"/>
                  <a:pt x="6628379" y="4278415"/>
                  <a:pt x="6666596" y="4471106"/>
                </a:cubicBezTo>
                <a:cubicBezTo>
                  <a:pt x="6502876" y="4512372"/>
                  <a:pt x="6330096" y="4439316"/>
                  <a:pt x="6244378" y="4471106"/>
                </a:cubicBezTo>
                <a:cubicBezTo>
                  <a:pt x="6158660" y="4502896"/>
                  <a:pt x="5964953" y="4447508"/>
                  <a:pt x="5888826" y="4471106"/>
                </a:cubicBezTo>
                <a:cubicBezTo>
                  <a:pt x="5812699" y="4494704"/>
                  <a:pt x="5621915" y="4443611"/>
                  <a:pt x="5533275" y="4471106"/>
                </a:cubicBezTo>
                <a:cubicBezTo>
                  <a:pt x="5444635" y="4498601"/>
                  <a:pt x="5162517" y="4450723"/>
                  <a:pt x="4977725" y="4471106"/>
                </a:cubicBezTo>
                <a:cubicBezTo>
                  <a:pt x="4792933" y="4491489"/>
                  <a:pt x="4496771" y="4465692"/>
                  <a:pt x="4355509" y="4471106"/>
                </a:cubicBezTo>
                <a:cubicBezTo>
                  <a:pt x="4214247" y="4476520"/>
                  <a:pt x="3949924" y="4454642"/>
                  <a:pt x="3799960" y="4471106"/>
                </a:cubicBezTo>
                <a:cubicBezTo>
                  <a:pt x="3649996" y="4487570"/>
                  <a:pt x="3417116" y="4416959"/>
                  <a:pt x="3244410" y="4471106"/>
                </a:cubicBezTo>
                <a:cubicBezTo>
                  <a:pt x="3071704" y="4525253"/>
                  <a:pt x="2960318" y="4444449"/>
                  <a:pt x="2888858" y="4471106"/>
                </a:cubicBezTo>
                <a:cubicBezTo>
                  <a:pt x="2817398" y="4497763"/>
                  <a:pt x="2510407" y="4435533"/>
                  <a:pt x="2333309" y="4471106"/>
                </a:cubicBezTo>
                <a:cubicBezTo>
                  <a:pt x="2156211" y="4506679"/>
                  <a:pt x="1965849" y="4390826"/>
                  <a:pt x="1644427" y="4471106"/>
                </a:cubicBezTo>
                <a:cubicBezTo>
                  <a:pt x="1323005" y="4551386"/>
                  <a:pt x="1208341" y="4392721"/>
                  <a:pt x="955545" y="4471106"/>
                </a:cubicBezTo>
                <a:cubicBezTo>
                  <a:pt x="702749" y="4549491"/>
                  <a:pt x="317889" y="4404555"/>
                  <a:pt x="0" y="4471106"/>
                </a:cubicBezTo>
                <a:cubicBezTo>
                  <a:pt x="-15519" y="4321830"/>
                  <a:pt x="69839" y="4085328"/>
                  <a:pt x="0" y="3867507"/>
                </a:cubicBezTo>
                <a:cubicBezTo>
                  <a:pt x="-69839" y="3649686"/>
                  <a:pt x="34735" y="3611340"/>
                  <a:pt x="0" y="3442752"/>
                </a:cubicBezTo>
                <a:cubicBezTo>
                  <a:pt x="-34735" y="3274164"/>
                  <a:pt x="29935" y="2961631"/>
                  <a:pt x="0" y="2839152"/>
                </a:cubicBezTo>
                <a:cubicBezTo>
                  <a:pt x="-29935" y="2716673"/>
                  <a:pt x="15629" y="2470079"/>
                  <a:pt x="0" y="2190842"/>
                </a:cubicBezTo>
                <a:cubicBezTo>
                  <a:pt x="-15629" y="1911605"/>
                  <a:pt x="25162" y="1856340"/>
                  <a:pt x="0" y="1631954"/>
                </a:cubicBezTo>
                <a:cubicBezTo>
                  <a:pt x="-25162" y="1407568"/>
                  <a:pt x="35586" y="1284813"/>
                  <a:pt x="0" y="1028354"/>
                </a:cubicBezTo>
                <a:cubicBezTo>
                  <a:pt x="-35586" y="771895"/>
                  <a:pt x="20725" y="696868"/>
                  <a:pt x="0" y="514177"/>
                </a:cubicBezTo>
                <a:cubicBezTo>
                  <a:pt x="-20725" y="331486"/>
                  <a:pt x="38324" y="110868"/>
                  <a:pt x="0" y="0"/>
                </a:cubicBezTo>
                <a:close/>
              </a:path>
            </a:pathLst>
          </a:custGeom>
          <a:noFill/>
          <a:ln w="38100"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825117853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0778917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5090D2C9-34E7-4CAB-8BA0-AD97E1F72D6F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137269" y="2164655"/>
            <a:ext cx="2743200" cy="3662707"/>
          </a:xfrm>
        </p:spPr>
        <p:txBody>
          <a:bodyPr/>
          <a:lstStyle/>
          <a:p>
            <a:r>
              <a:rPr lang="es-CO" dirty="0"/>
              <a:t>1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52001A3C-B4FE-4581-A50F-80407E8B8D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dirty="0"/>
              <a:t>Fases</a:t>
            </a: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A2310B81-F6FF-47BC-BFE2-0D18FB122A3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3190068" y="2164656"/>
            <a:ext cx="2743200" cy="3662706"/>
          </a:xfrm>
        </p:spPr>
        <p:txBody>
          <a:bodyPr/>
          <a:lstStyle/>
          <a:p>
            <a:endParaRPr lang="es-CO" dirty="0"/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CC35CD14-C2B3-4932-8E38-2CEB359A7FBF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235612" y="2164656"/>
            <a:ext cx="2743201" cy="3662706"/>
          </a:xfrm>
        </p:spPr>
        <p:txBody>
          <a:bodyPr/>
          <a:lstStyle/>
          <a:p>
            <a:endParaRPr lang="es-CO" dirty="0"/>
          </a:p>
        </p:txBody>
      </p:sp>
      <p:sp>
        <p:nvSpPr>
          <p:cNvPr id="12" name="Marcador de texto 11">
            <a:extLst>
              <a:ext uri="{FF2B5EF4-FFF2-40B4-BE49-F238E27FC236}">
                <a16:creationId xmlns:a16="http://schemas.microsoft.com/office/drawing/2014/main" id="{9B25FB38-7737-4808-A543-F7174B076B4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367620" y="3429000"/>
            <a:ext cx="2286000" cy="391923"/>
          </a:xfrm>
        </p:spPr>
        <p:txBody>
          <a:bodyPr/>
          <a:lstStyle/>
          <a:p>
            <a:r>
              <a:rPr lang="es-CO" b="1" dirty="0"/>
              <a:t>CONCEPCIÓN</a:t>
            </a:r>
          </a:p>
        </p:txBody>
      </p:sp>
      <p:sp>
        <p:nvSpPr>
          <p:cNvPr id="40" name="Marcador de texto 11">
            <a:extLst>
              <a:ext uri="{FF2B5EF4-FFF2-40B4-BE49-F238E27FC236}">
                <a16:creationId xmlns:a16="http://schemas.microsoft.com/office/drawing/2014/main" id="{4EBA7217-C88B-4132-8A3C-176742C44B20}"/>
              </a:ext>
            </a:extLst>
          </p:cNvPr>
          <p:cNvSpPr txBox="1">
            <a:spLocks/>
          </p:cNvSpPr>
          <p:nvPr/>
        </p:nvSpPr>
        <p:spPr>
          <a:xfrm>
            <a:off x="3418668" y="3455163"/>
            <a:ext cx="2286000" cy="73152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s-CO" dirty="0"/>
          </a:p>
        </p:txBody>
      </p:sp>
      <p:sp>
        <p:nvSpPr>
          <p:cNvPr id="41" name="Marcador de texto 11">
            <a:extLst>
              <a:ext uri="{FF2B5EF4-FFF2-40B4-BE49-F238E27FC236}">
                <a16:creationId xmlns:a16="http://schemas.microsoft.com/office/drawing/2014/main" id="{42AE5F22-91C1-4FF8-9698-252C210A8067}"/>
              </a:ext>
            </a:extLst>
          </p:cNvPr>
          <p:cNvSpPr txBox="1">
            <a:spLocks/>
          </p:cNvSpPr>
          <p:nvPr/>
        </p:nvSpPr>
        <p:spPr>
          <a:xfrm>
            <a:off x="3418668" y="3428999"/>
            <a:ext cx="2286000" cy="39192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CO" b="1" dirty="0"/>
              <a:t>ELABORACIÓN</a:t>
            </a:r>
          </a:p>
        </p:txBody>
      </p:sp>
      <p:sp>
        <p:nvSpPr>
          <p:cNvPr id="42" name="Marcador de texto 11">
            <a:extLst>
              <a:ext uri="{FF2B5EF4-FFF2-40B4-BE49-F238E27FC236}">
                <a16:creationId xmlns:a16="http://schemas.microsoft.com/office/drawing/2014/main" id="{2B08F6C0-353B-4853-AF23-E9838EC77643}"/>
              </a:ext>
            </a:extLst>
          </p:cNvPr>
          <p:cNvSpPr txBox="1">
            <a:spLocks/>
          </p:cNvSpPr>
          <p:nvPr/>
        </p:nvSpPr>
        <p:spPr>
          <a:xfrm>
            <a:off x="6464212" y="3428998"/>
            <a:ext cx="2286000" cy="39192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CO" b="1" dirty="0"/>
              <a:t>CONSTRUCCIÓN</a:t>
            </a:r>
          </a:p>
        </p:txBody>
      </p:sp>
      <p:sp>
        <p:nvSpPr>
          <p:cNvPr id="45" name="Marcador de texto 6">
            <a:extLst>
              <a:ext uri="{FF2B5EF4-FFF2-40B4-BE49-F238E27FC236}">
                <a16:creationId xmlns:a16="http://schemas.microsoft.com/office/drawing/2014/main" id="{7F841BD7-F20C-4A04-B719-89984A8BD67A}"/>
              </a:ext>
            </a:extLst>
          </p:cNvPr>
          <p:cNvSpPr txBox="1">
            <a:spLocks/>
          </p:cNvSpPr>
          <p:nvPr/>
        </p:nvSpPr>
        <p:spPr>
          <a:xfrm>
            <a:off x="9243704" y="2164656"/>
            <a:ext cx="2743201" cy="3662706"/>
          </a:xfrm>
          <a:prstGeom prst="rect">
            <a:avLst/>
          </a:prstGeom>
          <a:solidFill>
            <a:srgbClr val="92D050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lang="en-ZA" sz="3800" b="1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CO" dirty="0"/>
              <a:t>4</a:t>
            </a:r>
          </a:p>
        </p:txBody>
      </p:sp>
      <p:sp>
        <p:nvSpPr>
          <p:cNvPr id="46" name="Marcador de texto 11">
            <a:extLst>
              <a:ext uri="{FF2B5EF4-FFF2-40B4-BE49-F238E27FC236}">
                <a16:creationId xmlns:a16="http://schemas.microsoft.com/office/drawing/2014/main" id="{F8781345-E8E0-4000-BF86-DC19CC322620}"/>
              </a:ext>
            </a:extLst>
          </p:cNvPr>
          <p:cNvSpPr txBox="1">
            <a:spLocks/>
          </p:cNvSpPr>
          <p:nvPr/>
        </p:nvSpPr>
        <p:spPr>
          <a:xfrm>
            <a:off x="9472304" y="3428998"/>
            <a:ext cx="2286000" cy="39192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CO" b="1" dirty="0"/>
              <a:t>TRANSICIÓN</a:t>
            </a:r>
          </a:p>
        </p:txBody>
      </p:sp>
      <p:pic>
        <p:nvPicPr>
          <p:cNvPr id="3078" name="Picture 6" descr="Comprensión - Iconos gratis de personas">
            <a:extLst>
              <a:ext uri="{FF2B5EF4-FFF2-40B4-BE49-F238E27FC236}">
                <a16:creationId xmlns:a16="http://schemas.microsoft.com/office/drawing/2014/main" id="{2C02CB56-9702-4320-B64C-1773ABA6A4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675" y="3820921"/>
            <a:ext cx="1800000" cy="180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Diseño y elaboración de PP.DD. y SA dentro del marco del Proyecto Brújula20  | Programa Brújula20">
            <a:extLst>
              <a:ext uri="{FF2B5EF4-FFF2-40B4-BE49-F238E27FC236}">
                <a16:creationId xmlns:a16="http://schemas.microsoft.com/office/drawing/2014/main" id="{23F0BEC5-597F-4DEB-8741-BC928B7C58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61668" y="3847086"/>
            <a:ext cx="1800000" cy="180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 descr="Desarrollo de Software,Aplicaciones web, moviles APIs, Cloud, AI, ML">
            <a:extLst>
              <a:ext uri="{FF2B5EF4-FFF2-40B4-BE49-F238E27FC236}">
                <a16:creationId xmlns:a16="http://schemas.microsoft.com/office/drawing/2014/main" id="{5A408A3C-7C95-45BA-A889-9FF718521A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7212" y="4036882"/>
            <a:ext cx="1800000" cy="1420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4" name="Picture 12" descr="Qué es entrega continua? | RicardoGeek">
            <a:extLst>
              <a:ext uri="{FF2B5EF4-FFF2-40B4-BE49-F238E27FC236}">
                <a16:creationId xmlns:a16="http://schemas.microsoft.com/office/drawing/2014/main" id="{0F809B61-FB3E-4BCD-9FDB-772F8D677B2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66" r="7561"/>
          <a:stretch/>
        </p:blipFill>
        <p:spPr bwMode="auto">
          <a:xfrm>
            <a:off x="9715304" y="4044267"/>
            <a:ext cx="1800000" cy="1353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0306187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646D1F1-B146-4C6F-BCD8-AC0E9B7074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dirty="0"/>
              <a:t>Disciplinas</a:t>
            </a:r>
          </a:p>
        </p:txBody>
      </p:sp>
      <p:pic>
        <p:nvPicPr>
          <p:cNvPr id="17" name="Marcador de contenido 16">
            <a:extLst>
              <a:ext uri="{FF2B5EF4-FFF2-40B4-BE49-F238E27FC236}">
                <a16:creationId xmlns:a16="http://schemas.microsoft.com/office/drawing/2014/main" id="{5283534C-EAE8-41BC-B2F1-A9F68DE76118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3"/>
          <a:stretch>
            <a:fillRect/>
          </a:stretch>
        </p:blipFill>
        <p:spPr>
          <a:xfrm>
            <a:off x="982958" y="2369761"/>
            <a:ext cx="1316037" cy="1316037"/>
          </a:xfrm>
        </p:spPr>
      </p:pic>
      <p:pic>
        <p:nvPicPr>
          <p:cNvPr id="19" name="Marcador de contenido 18">
            <a:extLst>
              <a:ext uri="{FF2B5EF4-FFF2-40B4-BE49-F238E27FC236}">
                <a16:creationId xmlns:a16="http://schemas.microsoft.com/office/drawing/2014/main" id="{2C8227C8-5739-4868-9753-511B3AAA962E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/>
          <a:stretch>
            <a:fillRect/>
          </a:stretch>
        </p:blipFill>
        <p:spPr>
          <a:xfrm>
            <a:off x="4026989" y="2371348"/>
            <a:ext cx="1317625" cy="1317625"/>
          </a:xfrm>
        </p:spPr>
      </p:pic>
      <p:pic>
        <p:nvPicPr>
          <p:cNvPr id="23" name="Marcador de contenido 22">
            <a:extLst>
              <a:ext uri="{FF2B5EF4-FFF2-40B4-BE49-F238E27FC236}">
                <a16:creationId xmlns:a16="http://schemas.microsoft.com/office/drawing/2014/main" id="{914F7C31-4490-4BFF-B1CA-9F8D9441F862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5"/>
          <a:stretch>
            <a:fillRect/>
          </a:stretch>
        </p:blipFill>
        <p:spPr>
          <a:xfrm>
            <a:off x="7080546" y="2368173"/>
            <a:ext cx="1316038" cy="1316038"/>
          </a:xfrm>
        </p:spPr>
      </p:pic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BA4BEFD6-ACD1-4046-BCA5-A3B8C6CE7F3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593090" y="2183497"/>
            <a:ext cx="2283712" cy="2743200"/>
          </a:xfrm>
        </p:spPr>
        <p:txBody>
          <a:bodyPr anchor="ctr"/>
          <a:lstStyle/>
          <a:p>
            <a:r>
              <a:rPr lang="es-CO" sz="1800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PRUEBA</a:t>
            </a:r>
            <a:endParaRPr lang="es-CO" sz="1800" dirty="0"/>
          </a:p>
        </p:txBody>
      </p:sp>
      <p:sp>
        <p:nvSpPr>
          <p:cNvPr id="10" name="Marcador de texto 9">
            <a:extLst>
              <a:ext uri="{FF2B5EF4-FFF2-40B4-BE49-F238E27FC236}">
                <a16:creationId xmlns:a16="http://schemas.microsoft.com/office/drawing/2014/main" id="{6787B8B9-7A85-47AD-A650-B20DC79958E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540536" y="2188049"/>
            <a:ext cx="2283712" cy="2743200"/>
          </a:xfrm>
        </p:spPr>
        <p:txBody>
          <a:bodyPr anchor="ctr"/>
          <a:lstStyle/>
          <a:p>
            <a:r>
              <a:rPr lang="es-CO" sz="1800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APLICACIÓN</a:t>
            </a: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8FAE9024-F7D1-4D81-8CBD-CBC8235C707D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94802" y="2185777"/>
            <a:ext cx="2283712" cy="2743200"/>
          </a:xfrm>
        </p:spPr>
        <p:txBody>
          <a:bodyPr anchor="ctr"/>
          <a:lstStyle/>
          <a:p>
            <a:r>
              <a:rPr lang="es-CO" sz="1800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MODELO</a:t>
            </a:r>
          </a:p>
        </p:txBody>
      </p:sp>
      <p:sp>
        <p:nvSpPr>
          <p:cNvPr id="25" name="Marcador de texto 8">
            <a:extLst>
              <a:ext uri="{FF2B5EF4-FFF2-40B4-BE49-F238E27FC236}">
                <a16:creationId xmlns:a16="http://schemas.microsoft.com/office/drawing/2014/main" id="{3373A557-D605-49F2-9638-E95B9160E5FC}"/>
              </a:ext>
            </a:extLst>
          </p:cNvPr>
          <p:cNvSpPr txBox="1">
            <a:spLocks/>
          </p:cNvSpPr>
          <p:nvPr/>
        </p:nvSpPr>
        <p:spPr>
          <a:xfrm>
            <a:off x="9364258" y="2183497"/>
            <a:ext cx="2283712" cy="2743200"/>
          </a:xfrm>
          <a:prstGeom prst="rect">
            <a:avLst/>
          </a:prstGeom>
          <a:ln w="22225">
            <a:solidFill>
              <a:schemeClr val="tx1"/>
            </a:solidFill>
          </a:ln>
        </p:spPr>
        <p:txBody>
          <a:bodyPr vert="horz" lIns="365760" tIns="1554480" rIns="365760" bIns="45720" rtlCol="0" anchor="ctr">
            <a:noAutofit/>
          </a:bodyPr>
          <a:lstStyle>
            <a:lvl1pPr marL="0" indent="0" algn="ctr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CO" sz="1800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DESPLIEGUE</a:t>
            </a:r>
            <a:endParaRPr lang="es-CO" sz="1800" dirty="0"/>
          </a:p>
        </p:txBody>
      </p:sp>
      <p:pic>
        <p:nvPicPr>
          <p:cNvPr id="29" name="Imagen 28">
            <a:extLst>
              <a:ext uri="{FF2B5EF4-FFF2-40B4-BE49-F238E27FC236}">
                <a16:creationId xmlns:a16="http://schemas.microsoft.com/office/drawing/2014/main" id="{2CD47377-77FC-438A-8BFB-D5D70454835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47314" y="2368173"/>
            <a:ext cx="1317600" cy="1317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25459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646D1F1-B146-4C6F-BCD8-AC0E9B7074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dirty="0"/>
              <a:t>Disciplinas</a:t>
            </a:r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BA4BEFD6-ACD1-4046-BCA5-A3B8C6CE7F3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894948" y="2057400"/>
            <a:ext cx="2283712" cy="2743200"/>
          </a:xfrm>
        </p:spPr>
        <p:txBody>
          <a:bodyPr anchor="ctr"/>
          <a:lstStyle/>
          <a:p>
            <a:r>
              <a:rPr lang="es-CO" sz="1800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ENTORNO</a:t>
            </a:r>
            <a:endParaRPr lang="es-CO" sz="1800" dirty="0"/>
          </a:p>
        </p:txBody>
      </p:sp>
      <p:sp>
        <p:nvSpPr>
          <p:cNvPr id="10" name="Marcador de texto 9">
            <a:extLst>
              <a:ext uri="{FF2B5EF4-FFF2-40B4-BE49-F238E27FC236}">
                <a16:creationId xmlns:a16="http://schemas.microsoft.com/office/drawing/2014/main" id="{6787B8B9-7A85-47AD-A650-B20DC79958E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842394" y="2061952"/>
            <a:ext cx="2283712" cy="2743200"/>
          </a:xfrm>
        </p:spPr>
        <p:txBody>
          <a:bodyPr anchor="ctr"/>
          <a:lstStyle/>
          <a:p>
            <a:r>
              <a:rPr lang="es-CO" sz="1800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GESTIÓN DE PROYECTOS</a:t>
            </a:r>
          </a:p>
        </p:txBody>
      </p:sp>
      <p:sp>
        <p:nvSpPr>
          <p:cNvPr id="11" name="Marcador de texto 10">
            <a:extLst>
              <a:ext uri="{FF2B5EF4-FFF2-40B4-BE49-F238E27FC236}">
                <a16:creationId xmlns:a16="http://schemas.microsoft.com/office/drawing/2014/main" id="{8FAE9024-F7D1-4D81-8CBD-CBC8235C707D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1796660" y="2059680"/>
            <a:ext cx="2283712" cy="2743200"/>
          </a:xfrm>
        </p:spPr>
        <p:txBody>
          <a:bodyPr anchor="ctr"/>
          <a:lstStyle/>
          <a:p>
            <a:r>
              <a:rPr lang="es-CO" b="1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pattFill prst="dkUpDiag">
                  <a:fgClr>
                    <a:schemeClr val="tx2"/>
                  </a:fgClr>
                  <a:bgClr>
                    <a:schemeClr val="tx2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GESTIÓN DE LA CONFIGURACIÓN</a:t>
            </a:r>
          </a:p>
        </p:txBody>
      </p:sp>
      <p:pic>
        <p:nvPicPr>
          <p:cNvPr id="18" name="Marcador de contenido 17">
            <a:extLst>
              <a:ext uri="{FF2B5EF4-FFF2-40B4-BE49-F238E27FC236}">
                <a16:creationId xmlns:a16="http://schemas.microsoft.com/office/drawing/2014/main" id="{054346E0-064D-4400-BA4E-ED692E466279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3"/>
          <a:stretch>
            <a:fillRect/>
          </a:stretch>
        </p:blipFill>
        <p:spPr>
          <a:xfrm>
            <a:off x="2280497" y="2352729"/>
            <a:ext cx="1316037" cy="1316037"/>
          </a:xfrm>
        </p:spPr>
      </p:pic>
      <p:pic>
        <p:nvPicPr>
          <p:cNvPr id="21" name="Marcador de contenido 20">
            <a:extLst>
              <a:ext uri="{FF2B5EF4-FFF2-40B4-BE49-F238E27FC236}">
                <a16:creationId xmlns:a16="http://schemas.microsoft.com/office/drawing/2014/main" id="{A0B4EE79-7845-4CA5-9661-110882D8AACA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/>
          <a:stretch>
            <a:fillRect/>
          </a:stretch>
        </p:blipFill>
        <p:spPr>
          <a:xfrm>
            <a:off x="5328847" y="2351141"/>
            <a:ext cx="1317625" cy="1317625"/>
          </a:xfrm>
        </p:spPr>
      </p:pic>
      <p:pic>
        <p:nvPicPr>
          <p:cNvPr id="34" name="Marcador de contenido 33">
            <a:extLst>
              <a:ext uri="{FF2B5EF4-FFF2-40B4-BE49-F238E27FC236}">
                <a16:creationId xmlns:a16="http://schemas.microsoft.com/office/drawing/2014/main" id="{29D1987B-4EFF-40D9-847B-2143B8236A51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5"/>
          <a:stretch>
            <a:fillRect/>
          </a:stretch>
        </p:blipFill>
        <p:spPr>
          <a:xfrm>
            <a:off x="8378031" y="2352675"/>
            <a:ext cx="1316038" cy="1316038"/>
          </a:xfrm>
        </p:spPr>
      </p:pic>
    </p:spTree>
    <p:extLst>
      <p:ext uri="{BB962C8B-B14F-4D97-AF65-F5344CB8AC3E}">
        <p14:creationId xmlns:p14="http://schemas.microsoft.com/office/powerpoint/2010/main" val="381382642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531FDD0-C0CB-454B-A035-6A2FE5A737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dirty="0"/>
              <a:t>Principios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8C1BD5C7-EF3D-4F01-A0CE-58E23A3B41F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015158" y="1691639"/>
            <a:ext cx="5669280" cy="4801235"/>
          </a:xfrm>
        </p:spPr>
        <p:txBody>
          <a:bodyPr/>
          <a:lstStyle/>
          <a:p>
            <a:pPr marL="342900" indent="-342900">
              <a:lnSpc>
                <a:spcPct val="250000"/>
              </a:lnSpc>
              <a:buAutoNum type="arabicParenR"/>
            </a:pPr>
            <a:r>
              <a:rPr lang="es-CO" dirty="0"/>
              <a:t>EL PERSONAL SABE LO QUE ESTÁ HACIENDO.</a:t>
            </a:r>
          </a:p>
          <a:p>
            <a:pPr marL="342900" indent="-342900">
              <a:lnSpc>
                <a:spcPct val="250000"/>
              </a:lnSpc>
              <a:buAutoNum type="arabicParenR"/>
            </a:pPr>
            <a:r>
              <a:rPr lang="es-CO" dirty="0"/>
              <a:t>SIMPLICIDAD.</a:t>
            </a:r>
          </a:p>
          <a:p>
            <a:pPr marL="342900" indent="-342900">
              <a:lnSpc>
                <a:spcPct val="250000"/>
              </a:lnSpc>
              <a:buAutoNum type="arabicParenR"/>
            </a:pPr>
            <a:r>
              <a:rPr lang="es-CO" dirty="0"/>
              <a:t>AGILIDAD.</a:t>
            </a:r>
          </a:p>
          <a:p>
            <a:pPr marL="342900" indent="-342900">
              <a:lnSpc>
                <a:spcPct val="250000"/>
              </a:lnSpc>
              <a:buAutoNum type="arabicParenR"/>
            </a:pPr>
            <a:r>
              <a:rPr lang="es-CO" dirty="0"/>
              <a:t>CENTRARSE EN ACTIVIDADES DE ALTO VALOR.</a:t>
            </a:r>
          </a:p>
          <a:p>
            <a:pPr marL="342900" indent="-342900">
              <a:lnSpc>
                <a:spcPct val="250000"/>
              </a:lnSpc>
              <a:buAutoNum type="arabicParenR"/>
            </a:pPr>
            <a:r>
              <a:rPr lang="es-CO" dirty="0"/>
              <a:t>HERRAMIENTA DE LA INDEPENDENCIA.</a:t>
            </a:r>
          </a:p>
          <a:p>
            <a:pPr marL="342900" indent="-342900">
              <a:lnSpc>
                <a:spcPct val="250000"/>
              </a:lnSpc>
              <a:buAutoNum type="arabicParenR"/>
            </a:pPr>
            <a:r>
              <a:rPr lang="es-CO" dirty="0"/>
              <a:t>ADAPTACIÓN.</a:t>
            </a:r>
          </a:p>
        </p:txBody>
      </p:sp>
    </p:spTree>
    <p:extLst>
      <p:ext uri="{BB962C8B-B14F-4D97-AF65-F5344CB8AC3E}">
        <p14:creationId xmlns:p14="http://schemas.microsoft.com/office/powerpoint/2010/main" val="28064226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ítulo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3312" y="1755648"/>
            <a:ext cx="4306824" cy="1325563"/>
          </a:xfrm>
        </p:spPr>
        <p:txBody>
          <a:bodyPr rtlCol="0"/>
          <a:lstStyle/>
          <a:p>
            <a:pPr rtl="0"/>
            <a:r>
              <a:rPr lang="es-ES" dirty="0"/>
              <a:t>Fin…</a:t>
            </a:r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512_TF16411248_Win32" id="{5B274229-6D8A-4CDE-B5E6-3C621BFB50CF}" vid="{3FBBE3EF-B086-4F79-9F55-F2573AE756F5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Presentación para proyectos de arquitectura</Template>
  <TotalTime>345</TotalTime>
  <Words>725</Words>
  <Application>Microsoft Office PowerPoint</Application>
  <PresentationFormat>Panorámica</PresentationFormat>
  <Paragraphs>69</Paragraphs>
  <Slides>9</Slides>
  <Notes>9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9</vt:i4>
      </vt:variant>
    </vt:vector>
  </HeadingPairs>
  <TitlesOfParts>
    <vt:vector size="15" baseType="lpstr">
      <vt:lpstr>Arial</vt:lpstr>
      <vt:lpstr>Avenir Next LT Pro Light</vt:lpstr>
      <vt:lpstr>Calibri</vt:lpstr>
      <vt:lpstr>Posterama</vt:lpstr>
      <vt:lpstr>Times New Roman</vt:lpstr>
      <vt:lpstr>Tema de Office</vt:lpstr>
      <vt:lpstr>Agile Unified Process</vt:lpstr>
      <vt:lpstr>Proceso Unificado Ágil</vt:lpstr>
      <vt:lpstr>Proceso Unificado Ágil</vt:lpstr>
      <vt:lpstr>Ciclo de vida</vt:lpstr>
      <vt:lpstr>Fases</vt:lpstr>
      <vt:lpstr>Disciplinas</vt:lpstr>
      <vt:lpstr>Disciplinas</vt:lpstr>
      <vt:lpstr>Principios</vt:lpstr>
      <vt:lpstr>Fin…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Agile Unified Process</dc:title>
  <dc:creator>Alejandro Córdoba Ríos</dc:creator>
  <cp:lastModifiedBy>Alejandro Córdoba Ríos</cp:lastModifiedBy>
  <cp:revision>5</cp:revision>
  <dcterms:created xsi:type="dcterms:W3CDTF">2022-02-16T19:43:42Z</dcterms:created>
  <dcterms:modified xsi:type="dcterms:W3CDTF">2022-02-17T01:29:26Z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